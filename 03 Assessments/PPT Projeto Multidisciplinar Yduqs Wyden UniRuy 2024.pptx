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0"/>
  </p:notesMasterIdLst>
  <p:sldIdLst>
    <p:sldId id="256" r:id="rId5"/>
    <p:sldId id="1448944842" r:id="rId6"/>
    <p:sldId id="1448944847" r:id="rId7"/>
    <p:sldId id="1448944859" r:id="rId8"/>
    <p:sldId id="1448944854" r:id="rId9"/>
    <p:sldId id="1448944855" r:id="rId10"/>
    <p:sldId id="1448944856" r:id="rId11"/>
    <p:sldId id="1448944857" r:id="rId12"/>
    <p:sldId id="1448944858" r:id="rId13"/>
    <p:sldId id="1448944860" r:id="rId14"/>
    <p:sldId id="1448944861" r:id="rId15"/>
    <p:sldId id="1448944862" r:id="rId16"/>
    <p:sldId id="1448944863" r:id="rId17"/>
    <p:sldId id="1448944864" r:id="rId18"/>
    <p:sldId id="1448944865" r:id="rId19"/>
    <p:sldId id="1448944866" r:id="rId20"/>
    <p:sldId id="1448944867" r:id="rId21"/>
    <p:sldId id="1448944868" r:id="rId22"/>
    <p:sldId id="1448944869" r:id="rId23"/>
    <p:sldId id="1448944870" r:id="rId24"/>
    <p:sldId id="1448944872" r:id="rId25"/>
    <p:sldId id="1448944871" r:id="rId26"/>
    <p:sldId id="1448944873" r:id="rId27"/>
    <p:sldId id="1448944851" r:id="rId28"/>
    <p:sldId id="259" r:id="rId29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005B"/>
    <a:srgbClr val="FF2A00"/>
    <a:srgbClr val="B4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09608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72BE2E5-C53B-4115-9A54-D8BA6D9E199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92FBB75D-85BB-43BF-A75C-9700D9C72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532" y="2932934"/>
            <a:ext cx="3750468" cy="2248816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2AD26EA1-9748-44E3-B232-07330DFDB2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3" y="525796"/>
            <a:ext cx="3792000" cy="1800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1697169F-C56B-4189-A307-A2853A306BC5}"/>
              </a:ext>
            </a:extLst>
          </p:cNvPr>
          <p:cNvSpPr/>
          <p:nvPr userDrawn="1"/>
        </p:nvSpPr>
        <p:spPr>
          <a:xfrm>
            <a:off x="0" y="-38250"/>
            <a:ext cx="9144000" cy="5220000"/>
          </a:xfrm>
          <a:prstGeom prst="rect">
            <a:avLst/>
          </a:prstGeom>
          <a:solidFill>
            <a:srgbClr val="002C2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0A207C0-B955-4401-AF12-CF53242709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" y="-144575"/>
            <a:ext cx="4657059" cy="279241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5798619-212D-4D1E-81CE-D5B296300E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1307" y="4216938"/>
            <a:ext cx="1896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6309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BD69EDC2-B707-4557-B0E8-CC7659A79FAE}"/>
              </a:ext>
            </a:extLst>
          </p:cNvPr>
          <p:cNvSpPr/>
          <p:nvPr userDrawn="1"/>
        </p:nvSpPr>
        <p:spPr>
          <a:xfrm>
            <a:off x="0" y="-56250"/>
            <a:ext cx="9144000" cy="52560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1D5B860-F608-404D-A6E3-55CFD79087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6000" y="1671750"/>
            <a:ext cx="3792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587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/>
          </p:nvPr>
        </p:nvSpPr>
        <p:spPr>
          <a:xfrm>
            <a:off x="392388" y="1597822"/>
            <a:ext cx="7551149" cy="110252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058665" y="2914650"/>
            <a:ext cx="6218594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82CD95A-A8A7-4A28-A57B-5AFF58CAE495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12BF48C-4100-432C-A72C-2CA72BFD98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391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305176"/>
            <a:ext cx="7551149" cy="1021557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392388" y="2180034"/>
            <a:ext cx="7551149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79B2584-D82A-434C-907E-5AD4708B4A5F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BA4A514-A3EF-435D-BF62-1B39358486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8A7463F-7713-42EA-8A15-BDA2961FCD2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7CC0238-F9AC-4816-B8CD-E40135A634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305743" y="1371599"/>
            <a:ext cx="3637794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 dirty="0"/>
          </a:p>
        </p:txBody>
      </p:sp>
      <p:sp>
        <p:nvSpPr>
          <p:cNvPr id="13" name="Texto do Título">
            <a:extLst>
              <a:ext uri="{FF2B5EF4-FFF2-40B4-BE49-F238E27FC236}">
                <a16:creationId xmlns:a16="http://schemas.microsoft.com/office/drawing/2014/main" id="{71A1DC59-F919-49D7-93AC-7F97FA4481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4" name="Nível de Corpo Um…">
            <a:extLst>
              <a:ext uri="{FF2B5EF4-FFF2-40B4-BE49-F238E27FC236}">
                <a16:creationId xmlns:a16="http://schemas.microsoft.com/office/drawing/2014/main" id="{DAE5C6F0-0EB8-4E38-B508-92B4D1C0536A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B1D7A5D-A48A-4407-AC8A-A2B933367683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E9DF7DC-3AC6-4ACF-B842-7129C4314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78FD593-B78A-44C8-9101-48A080424BD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0C5646E-5BBA-42C0-BB13-DF961E3AF3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9912"/>
            <a:ext cx="3008315" cy="8715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575050" y="379915"/>
            <a:ext cx="4368487" cy="4389836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392388" y="1251454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88ECC2-470E-4E41-8255-6900EE08FF8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007629A3-E5F3-4232-AC3E-7E773C88E9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/>
          </p:nvPr>
        </p:nvSpPr>
        <p:spPr>
          <a:xfrm>
            <a:off x="1424762" y="3599015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424762" y="377427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424762" y="4159556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F2456B8-1030-4813-B77D-CFBEB057381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07B511C-2EB3-40D0-BCAC-2B9DB5137B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205978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1200150"/>
            <a:ext cx="7551149" cy="3394473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6EBB230-F7F9-40F8-A09E-9AB050F119BB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0E84E17-BDC1-41DD-97A2-C32AFF1C41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/>
          </p:nvPr>
        </p:nvSpPr>
        <p:spPr>
          <a:xfrm>
            <a:off x="6082331" y="377426"/>
            <a:ext cx="1797645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377426"/>
            <a:ext cx="5517594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440BD70-AE55-46A6-B9E1-7E6B4A3E2597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3AB3B02-E76C-4FAB-AD1B-354C5F1CDE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377427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0" r:id="rId4"/>
    <p:sldLayoutId id="2147483651" r:id="rId5"/>
    <p:sldLayoutId id="2147483652" r:id="rId6"/>
    <p:sldLayoutId id="2147483653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bertaSueed/Trabalho-de-Arquitetura-de-Computadores" TargetMode="External"/><Relationship Id="rId2" Type="http://schemas.openxmlformats.org/officeDocument/2006/relationships/hyperlink" Target="https://github.com/Lcsonic/WydenArquiteturaWorkLucasEVictor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DKMariano/Trabalho-de-arquitetura-de-computadores-UniRuy-Wyden" TargetMode="External"/><Relationship Id="rId4" Type="http://schemas.openxmlformats.org/officeDocument/2006/relationships/hyperlink" Target="https://github.com/Icarosantt57/Repositorio-AV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bertaSueed/Trabalho-de-Arquitetura-de-Computadores" TargetMode="External"/><Relationship Id="rId2" Type="http://schemas.openxmlformats.org/officeDocument/2006/relationships/hyperlink" Target="https://github.com/Brun04ss1s/Trabalho-banco-de-dados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projectbanco/Projeto_Banco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saoLH/projetoengenhariadesoftware" TargetMode="External"/><Relationship Id="rId2" Type="http://schemas.openxmlformats.org/officeDocument/2006/relationships/hyperlink" Target="https://github.com/softwareengineeringp/Projeto_Engenharia_Software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ruiRomer/EngenhariadeSoftware-Sistema_de_Biblioteca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irocket/find-your-home" TargetMode="External"/><Relationship Id="rId2" Type="http://schemas.openxmlformats.org/officeDocument/2006/relationships/hyperlink" Target="https://github.com/RafaelFN1230/NF_Java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Gusrrocha/Librell" TargetMode="External"/><Relationship Id="rId4" Type="http://schemas.openxmlformats.org/officeDocument/2006/relationships/hyperlink" Target="https://github.com/NotKing22/Javaweb-projec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dmBello/Dataset-BigData" TargetMode="External"/><Relationship Id="rId2" Type="http://schemas.openxmlformats.org/officeDocument/2006/relationships/hyperlink" Target="https://github.com/DanK007/aula-heleno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BCB13E4-4A11-48C5-A5A3-7FAB1396ADAB}"/>
              </a:ext>
            </a:extLst>
          </p:cNvPr>
          <p:cNvSpPr txBox="1">
            <a:spLocks/>
          </p:cNvSpPr>
          <p:nvPr/>
        </p:nvSpPr>
        <p:spPr>
          <a:xfrm>
            <a:off x="442912" y="2559082"/>
            <a:ext cx="7628643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 fontScale="62500" lnSpcReduction="20000"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4000" b="1" dirty="0">
                <a:solidFill>
                  <a:schemeClr val="bg1"/>
                </a:solidFill>
              </a:rPr>
              <a:t>Projeto Multidisciplinar </a:t>
            </a:r>
            <a:r>
              <a:rPr lang="pt-BR" sz="4000" b="1" dirty="0" err="1">
                <a:solidFill>
                  <a:schemeClr val="bg1"/>
                </a:solidFill>
              </a:rPr>
              <a:t>Yduqs</a:t>
            </a:r>
            <a:r>
              <a:rPr lang="pt-BR" sz="4000" b="1" dirty="0">
                <a:solidFill>
                  <a:schemeClr val="bg1"/>
                </a:solidFill>
              </a:rPr>
              <a:t> </a:t>
            </a:r>
            <a:r>
              <a:rPr lang="pt-BR" sz="4000" b="1" dirty="0" err="1">
                <a:solidFill>
                  <a:schemeClr val="bg1"/>
                </a:solidFill>
              </a:rPr>
              <a:t>Wyden</a:t>
            </a:r>
            <a:r>
              <a:rPr lang="pt-BR" sz="4000" b="1" dirty="0">
                <a:solidFill>
                  <a:schemeClr val="bg1"/>
                </a:solidFill>
              </a:rPr>
              <a:t> </a:t>
            </a:r>
            <a:r>
              <a:rPr lang="pt-BR" sz="4000" b="1" dirty="0" err="1">
                <a:solidFill>
                  <a:schemeClr val="bg1"/>
                </a:solidFill>
              </a:rPr>
              <a:t>UniRuy</a:t>
            </a:r>
            <a:endParaRPr lang="pt-BR" sz="4000" b="1" dirty="0">
              <a:solidFill>
                <a:schemeClr val="bg1"/>
              </a:solidFill>
            </a:endParaRPr>
          </a:p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4000" b="1" dirty="0">
                <a:solidFill>
                  <a:schemeClr val="bg1"/>
                </a:solidFill>
              </a:rPr>
              <a:t>PPC Aurea: Habilidades e Competências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74EFB-1823-854F-EADA-689E053E3A06}"/>
              </a:ext>
            </a:extLst>
          </p:cNvPr>
          <p:cNvSpPr txBox="1">
            <a:spLocks/>
          </p:cNvSpPr>
          <p:nvPr/>
        </p:nvSpPr>
        <p:spPr>
          <a:xfrm>
            <a:off x="435819" y="4050788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2800" b="1" dirty="0">
                <a:solidFill>
                  <a:schemeClr val="bg1"/>
                </a:solidFill>
              </a:rPr>
              <a:t>Docente: Heleno Cardoso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51A2B4B-230F-8FEC-1662-8330C8CB0579}"/>
              </a:ext>
            </a:extLst>
          </p:cNvPr>
          <p:cNvSpPr txBox="1">
            <a:spLocks/>
          </p:cNvSpPr>
          <p:nvPr/>
        </p:nvSpPr>
        <p:spPr>
          <a:xfrm>
            <a:off x="2407379" y="3407406"/>
            <a:ext cx="3124177" cy="569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 lnSpcReduction="10000"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accent5"/>
                </a:solidFill>
              </a:rPr>
              <a:t>Cultura </a:t>
            </a:r>
            <a:r>
              <a:rPr lang="pt-BR" sz="3200" b="1" dirty="0" err="1">
                <a:solidFill>
                  <a:schemeClr val="accent5"/>
                </a:solidFill>
              </a:rPr>
              <a:t>Maker</a:t>
            </a:r>
            <a:endParaRPr lang="pt-BR" sz="3200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 descr="ícone premio, com, uma, estrela Livre de Hawcons Sports Stroke">
            <a:extLst>
              <a:ext uri="{FF2B5EF4-FFF2-40B4-BE49-F238E27FC236}">
                <a16:creationId xmlns:a16="http://schemas.microsoft.com/office/drawing/2014/main" id="{0DCBB5F1-1BA0-4EF0-8CDD-85ACE3E2E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286" y="66748"/>
            <a:ext cx="561685" cy="56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ícone premio, com, uma, estrela Livre de Hawcons Sports Stroke">
            <a:extLst>
              <a:ext uri="{FF2B5EF4-FFF2-40B4-BE49-F238E27FC236}">
                <a16:creationId xmlns:a16="http://schemas.microsoft.com/office/drawing/2014/main" id="{6DEC8EFF-F062-4886-BF7B-9D355954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487" y="59153"/>
            <a:ext cx="561684" cy="561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5CE899B-90E9-4B56-BBFE-5406760AA2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464" t="43957" r="33812" b="1"/>
          <a:stretch/>
        </p:blipFill>
        <p:spPr>
          <a:xfrm>
            <a:off x="7447962" y="1495940"/>
            <a:ext cx="849810" cy="452797"/>
          </a:xfrm>
          <a:prstGeom prst="rect">
            <a:avLst/>
          </a:prstGeom>
        </p:spPr>
      </p:pic>
      <p:pic>
        <p:nvPicPr>
          <p:cNvPr id="12" name="Gráfico 11" descr="Pódio estrutura de tópicos">
            <a:extLst>
              <a:ext uri="{FF2B5EF4-FFF2-40B4-BE49-F238E27FC236}">
                <a16:creationId xmlns:a16="http://schemas.microsoft.com/office/drawing/2014/main" id="{AA22EE61-D162-4749-B007-EFE949E00E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37195" y="628432"/>
            <a:ext cx="699300" cy="699300"/>
          </a:xfrm>
          <a:prstGeom prst="rect">
            <a:avLst/>
          </a:prstGeom>
        </p:spPr>
      </p:pic>
      <p:sp>
        <p:nvSpPr>
          <p:cNvPr id="13" name="TextBox 1">
            <a:extLst>
              <a:ext uri="{FF2B5EF4-FFF2-40B4-BE49-F238E27FC236}">
                <a16:creationId xmlns:a16="http://schemas.microsoft.com/office/drawing/2014/main" id="{5905B5EA-6B88-4832-A971-1787EC3B3F0B}"/>
              </a:ext>
            </a:extLst>
          </p:cNvPr>
          <p:cNvSpPr txBox="1"/>
          <p:nvPr/>
        </p:nvSpPr>
        <p:spPr>
          <a:xfrm>
            <a:off x="7206423" y="1189232"/>
            <a:ext cx="1360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 hangingPunct="1">
              <a:defRPr/>
            </a:pPr>
            <a:r>
              <a:rPr lang="pt-BR" sz="1200" kern="1200" dirty="0">
                <a:solidFill>
                  <a:prstClr val="black">
                    <a:lumMod val="65000"/>
                    <a:lumOff val="3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Verdana" panose="020B0604030504040204" pitchFamily="34" charset="0"/>
                <a:cs typeface="Verdana" panose="020B0604030504040204" pitchFamily="34" charset="0"/>
              </a:rPr>
              <a:t>NID</a:t>
            </a:r>
          </a:p>
        </p:txBody>
      </p:sp>
      <p:sp>
        <p:nvSpPr>
          <p:cNvPr id="14" name="CaixaDeTexto 5">
            <a:extLst>
              <a:ext uri="{FF2B5EF4-FFF2-40B4-BE49-F238E27FC236}">
                <a16:creationId xmlns:a16="http://schemas.microsoft.com/office/drawing/2014/main" id="{5E8087FC-230A-4E94-87FD-DF8DAF2AE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45" y="0"/>
            <a:ext cx="4171908" cy="52322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defTabSz="685754" eaLnBrk="1" hangingPunct="1">
              <a:defRPr/>
            </a:pPr>
            <a:r>
              <a:rPr lang="pt-BR" sz="2800" b="1" dirty="0">
                <a:solidFill>
                  <a:srgbClr val="663300"/>
                </a:solidFill>
                <a:latin typeface="Bookman Old Style" panose="02050604050505020204" pitchFamily="18" charset="0"/>
                <a:cs typeface="+mn-cs"/>
                <a:sym typeface="Gill Sans" charset="0"/>
              </a:rPr>
              <a:t>AGENDA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9625603-C5B5-48EF-AE95-C4843C0F2FFF}"/>
              </a:ext>
            </a:extLst>
          </p:cNvPr>
          <p:cNvSpPr/>
          <p:nvPr/>
        </p:nvSpPr>
        <p:spPr>
          <a:xfrm>
            <a:off x="94520" y="593092"/>
            <a:ext cx="7111904" cy="3677268"/>
          </a:xfrm>
          <a:prstGeom prst="rect">
            <a:avLst/>
          </a:prstGeom>
          <a:grp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hangingPunct="1"/>
            <a:endParaRPr lang="pt-BR" sz="1350" kern="1200">
              <a:solidFill>
                <a:prstClr val="white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46E0924-19D5-48A3-A437-7E97CC5DAE83}"/>
              </a:ext>
            </a:extLst>
          </p:cNvPr>
          <p:cNvSpPr/>
          <p:nvPr/>
        </p:nvSpPr>
        <p:spPr>
          <a:xfrm>
            <a:off x="94519" y="400769"/>
            <a:ext cx="6412604" cy="3239348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  <a:sym typeface="Gill Sans" charset="0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  <a:sym typeface="Gill Sans" charset="0"/>
              </a:rPr>
              <a:t>PBL – Arquitetura de Computador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  <a:sym typeface="Gill Sans" charset="0"/>
              </a:rPr>
              <a:t>PBL – Banco de Dados</a:t>
            </a: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  <a:sym typeface="Gill Sans" charset="0"/>
              </a:rPr>
              <a:t>PBL – Engenharia de Software</a:t>
            </a: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PBL – JAVA POO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PBL – Tópicos com Python Big Data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Fotos Eventos</a:t>
            </a:r>
          </a:p>
          <a:p>
            <a:pPr defTabSz="685800" hangingPunct="1">
              <a:spcBef>
                <a:spcPts val="450"/>
              </a:spcBef>
              <a:buClr>
                <a:srgbClr val="C00000"/>
              </a:buClr>
              <a:buSzPct val="180000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</p:txBody>
      </p:sp>
      <p:pic>
        <p:nvPicPr>
          <p:cNvPr id="11" name="Imagem 10" descr="Grupo de pessoas posando para foto em frente a tela de projeção&#10;&#10;Descrição gerada automaticamente com confiança média">
            <a:extLst>
              <a:ext uri="{FF2B5EF4-FFF2-40B4-BE49-F238E27FC236}">
                <a16:creationId xmlns:a16="http://schemas.microsoft.com/office/drawing/2014/main" id="{35DA1AF6-FF40-9773-BB40-CF9526305E5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49" y="3419411"/>
            <a:ext cx="2276785" cy="1701897"/>
          </a:xfrm>
          <a:prstGeom prst="rect">
            <a:avLst/>
          </a:prstGeom>
        </p:spPr>
      </p:pic>
      <p:pic>
        <p:nvPicPr>
          <p:cNvPr id="19" name="Imagem 18" descr="Grupo de pessoas posando para foto em frente a parede azul&#10;&#10;Descrição gerada automaticamente com confiança média">
            <a:extLst>
              <a:ext uri="{FF2B5EF4-FFF2-40B4-BE49-F238E27FC236}">
                <a16:creationId xmlns:a16="http://schemas.microsoft.com/office/drawing/2014/main" id="{44073BD4-FAE5-7379-06EC-CF82A55C374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635" y="3419410"/>
            <a:ext cx="2276786" cy="1701898"/>
          </a:xfrm>
          <a:prstGeom prst="rect">
            <a:avLst/>
          </a:prstGeom>
        </p:spPr>
      </p:pic>
      <p:pic>
        <p:nvPicPr>
          <p:cNvPr id="21" name="Imagem 20" descr="Uma imagem contendo pessoa, no interior, criança, jovem&#10;&#10;Descrição gerada automaticamente">
            <a:extLst>
              <a:ext uri="{FF2B5EF4-FFF2-40B4-BE49-F238E27FC236}">
                <a16:creationId xmlns:a16="http://schemas.microsoft.com/office/drawing/2014/main" id="{AB9F4A50-B42C-5E45-84C3-D90D87C5CDE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258" y="1767135"/>
            <a:ext cx="2520882" cy="336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4012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333" y="125491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Introdução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B8B476-7807-D7FF-02BC-485EF40A7B76}"/>
              </a:ext>
            </a:extLst>
          </p:cNvPr>
          <p:cNvSpPr txBox="1"/>
          <p:nvPr/>
        </p:nvSpPr>
        <p:spPr>
          <a:xfrm>
            <a:off x="468488" y="1112785"/>
            <a:ext cx="7512755" cy="3046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pt-BR" sz="2400" dirty="0"/>
              <a:t>A interação entre essas disciplinas permite a criação de soluções tecnológicas avançadas que atendem às demandas contemporâneas por processamento e análise de dados em larga escala.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Assim, a interdisciplinaridade entre essas áreas é fundamental para o desenvolvimento e sucesso de soluções tecnológicas modernas e eficazes.</a:t>
            </a:r>
          </a:p>
        </p:txBody>
      </p:sp>
    </p:spTree>
    <p:extLst>
      <p:ext uri="{BB962C8B-B14F-4D97-AF65-F5344CB8AC3E}">
        <p14:creationId xmlns:p14="http://schemas.microsoft.com/office/powerpoint/2010/main" val="92442274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333" y="125491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Introdução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B8B476-7807-D7FF-02BC-485EF40A7B76}"/>
              </a:ext>
            </a:extLst>
          </p:cNvPr>
          <p:cNvSpPr txBox="1"/>
          <p:nvPr/>
        </p:nvSpPr>
        <p:spPr>
          <a:xfrm>
            <a:off x="468488" y="1112785"/>
            <a:ext cx="7512755" cy="341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pt-BR" sz="2400" dirty="0"/>
              <a:t>Adotamos metodologias ativas baseadas em problemas e projetos - PBL.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Debatemos as estratégias e soluções em sala de aula e seminários.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Consolidamos o aprendizado num processo construtivista desenvolvendo as habilidades e competências, estimulando a inovação e o empreendedorismo. </a:t>
            </a:r>
          </a:p>
        </p:txBody>
      </p:sp>
    </p:spTree>
    <p:extLst>
      <p:ext uri="{BB962C8B-B14F-4D97-AF65-F5344CB8AC3E}">
        <p14:creationId xmlns:p14="http://schemas.microsoft.com/office/powerpoint/2010/main" val="361578527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Arquitetura de Computador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C84FA88-D4DF-65D7-305E-FE822990D5DA}"/>
              </a:ext>
            </a:extLst>
          </p:cNvPr>
          <p:cNvSpPr txBox="1"/>
          <p:nvPr/>
        </p:nvSpPr>
        <p:spPr>
          <a:xfrm>
            <a:off x="468488" y="1112785"/>
            <a:ext cx="7512755" cy="39703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pt-BR" sz="2400" dirty="0"/>
              <a:t>Consultoria, cliente com necessidade de aquisição de Computador: Mapa Mental; </a:t>
            </a:r>
            <a:r>
              <a:rPr lang="pt-BR" sz="2400" dirty="0" err="1"/>
              <a:t>PodCast</a:t>
            </a:r>
            <a:r>
              <a:rPr lang="pt-BR" sz="2400" dirty="0"/>
              <a:t> e </a:t>
            </a:r>
            <a:r>
              <a:rPr lang="pt-BR" sz="2400" dirty="0" err="1"/>
              <a:t>Kahoot</a:t>
            </a:r>
            <a:r>
              <a:rPr lang="pt-BR" sz="2400" dirty="0"/>
              <a:t>.</a:t>
            </a:r>
          </a:p>
          <a:p>
            <a:pPr algn="just"/>
            <a:endParaRPr lang="pt-BR" sz="24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000" dirty="0">
                <a:hlinkClick r:id="rId2"/>
              </a:rPr>
              <a:t>https://github.com/Lcsonic/WydenArquiteturaWorkLucasEVictor</a:t>
            </a: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000" dirty="0">
                <a:hlinkClick r:id="rId3"/>
              </a:rPr>
              <a:t>https://github.com/RobertaSueed/Trabalho-de-Arquitetura-de-Computadores</a:t>
            </a:r>
            <a:r>
              <a:rPr lang="pt-BR" sz="2000" dirty="0"/>
              <a:t>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000" dirty="0">
                <a:hlinkClick r:id="rId4"/>
              </a:rPr>
              <a:t>https://github.com/Icarosantt57/Repositorio-AV</a:t>
            </a:r>
            <a:r>
              <a:rPr lang="pt-BR" sz="2000" dirty="0"/>
              <a:t>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000" dirty="0">
                <a:hlinkClick r:id="rId5"/>
              </a:rPr>
              <a:t>https://github.com/DKMariano/Trabalho-de-arquitetura-de-computadores-UniRuy-Wyden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43299700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Banco de Dados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521798C-B31F-60BD-44F2-B4F5D07DFE99}"/>
              </a:ext>
            </a:extLst>
          </p:cNvPr>
          <p:cNvSpPr txBox="1"/>
          <p:nvPr/>
        </p:nvSpPr>
        <p:spPr>
          <a:xfrm>
            <a:off x="468488" y="1112785"/>
            <a:ext cx="7512755" cy="3046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pt-BR" sz="2400" dirty="0"/>
              <a:t>Consultoria, modelagem do domínio do cliente: Modelo Conceitual; Lógico e Físico; Vídeo Consultoria.</a:t>
            </a:r>
          </a:p>
          <a:p>
            <a:pPr algn="just"/>
            <a:endParaRPr lang="pt-BR" sz="24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000" dirty="0">
                <a:hlinkClick r:id="rId2"/>
              </a:rPr>
              <a:t>https://github.com/Brun04ss1s/Trabalho-banco-de-dados</a:t>
            </a:r>
            <a:r>
              <a:rPr lang="pt-BR" sz="2000" dirty="0"/>
              <a:t>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pt-BR" sz="2000" dirty="0">
              <a:hlinkClick r:id="rId3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000" dirty="0">
                <a:hlinkClick r:id="rId3"/>
              </a:rPr>
              <a:t>https://github.com/RobertaSueed/Trabalho-de-Arquitetura-de-Computadores</a:t>
            </a: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000" dirty="0"/>
              <a:t>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000" dirty="0">
                <a:hlinkClick r:id="rId4"/>
              </a:rPr>
              <a:t>https://github.com/projectbanco/Projeto_Banco</a:t>
            </a:r>
            <a:r>
              <a:rPr lang="pt-BR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113076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Engenharia de Software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4884B1B-1490-3B90-D9D9-FAD5B2DEC1A8}"/>
              </a:ext>
            </a:extLst>
          </p:cNvPr>
          <p:cNvSpPr txBox="1"/>
          <p:nvPr/>
        </p:nvSpPr>
        <p:spPr>
          <a:xfrm>
            <a:off x="468488" y="1112785"/>
            <a:ext cx="7512755" cy="33547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pt-BR" sz="2400" dirty="0"/>
              <a:t>Consultoria, projeto de sistema de informação: MPS.br e Ágil; Seminário.</a:t>
            </a:r>
          </a:p>
          <a:p>
            <a:pPr algn="just"/>
            <a:endParaRPr lang="pt-BR" sz="24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000" dirty="0">
                <a:hlinkClick r:id="rId2"/>
              </a:rPr>
              <a:t>https://github.com/softwareengineeringp/Projeto_Engenharia_Software</a:t>
            </a:r>
            <a:r>
              <a:rPr lang="pt-BR" sz="2000" dirty="0"/>
              <a:t>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000" dirty="0">
                <a:hlinkClick r:id="rId3"/>
              </a:rPr>
              <a:t>https://github.com/MasaoLH/projetoengenhariadesoftware</a:t>
            </a:r>
            <a:r>
              <a:rPr lang="pt-BR" sz="2000" dirty="0"/>
              <a:t>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000" dirty="0">
                <a:hlinkClick r:id="rId4"/>
              </a:rPr>
              <a:t>https://github.com/ruiRomer/EngenhariadeSoftware-Sistema_de_Biblioteca</a:t>
            </a:r>
            <a:r>
              <a:rPr lang="pt-BR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984385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JAVA POO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0FAB323-C427-3A70-0E79-85CD31A6BCBC}"/>
              </a:ext>
            </a:extLst>
          </p:cNvPr>
          <p:cNvSpPr txBox="1"/>
          <p:nvPr/>
        </p:nvSpPr>
        <p:spPr>
          <a:xfrm>
            <a:off x="468488" y="1112785"/>
            <a:ext cx="7512755" cy="32932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pt-BR" sz="2400" dirty="0"/>
              <a:t>Full Stack: </a:t>
            </a:r>
            <a:r>
              <a:rPr lang="pt-BR" sz="2400" dirty="0" err="1">
                <a:solidFill>
                  <a:srgbClr val="FF0000"/>
                </a:solidFill>
              </a:rPr>
              <a:t>back</a:t>
            </a:r>
            <a:r>
              <a:rPr lang="pt-BR" sz="2400" dirty="0">
                <a:solidFill>
                  <a:srgbClr val="FF0000"/>
                </a:solidFill>
              </a:rPr>
              <a:t> </a:t>
            </a:r>
            <a:r>
              <a:rPr lang="pt-BR" sz="2400" dirty="0" err="1">
                <a:solidFill>
                  <a:srgbClr val="FF0000"/>
                </a:solidFill>
              </a:rPr>
              <a:t>end</a:t>
            </a:r>
            <a:r>
              <a:rPr lang="pt-BR" sz="2400" dirty="0">
                <a:solidFill>
                  <a:srgbClr val="FF0000"/>
                </a:solidFill>
              </a:rPr>
              <a:t> Java; </a:t>
            </a:r>
            <a:r>
              <a:rPr lang="pt-BR" sz="2400" dirty="0" err="1">
                <a:solidFill>
                  <a:srgbClr val="FF0000"/>
                </a:solidFill>
              </a:rPr>
              <a:t>font</a:t>
            </a:r>
            <a:r>
              <a:rPr lang="pt-BR" sz="2400" dirty="0">
                <a:solidFill>
                  <a:srgbClr val="FF0000"/>
                </a:solidFill>
              </a:rPr>
              <a:t> </a:t>
            </a:r>
            <a:r>
              <a:rPr lang="pt-BR" sz="2400" dirty="0" err="1">
                <a:solidFill>
                  <a:srgbClr val="FF0000"/>
                </a:solidFill>
              </a:rPr>
              <a:t>end</a:t>
            </a:r>
            <a:r>
              <a:rPr lang="pt-BR" sz="2400" dirty="0">
                <a:solidFill>
                  <a:srgbClr val="FF0000"/>
                </a:solidFill>
              </a:rPr>
              <a:t> livre</a:t>
            </a:r>
            <a:r>
              <a:rPr lang="pt-BR" sz="2400" dirty="0"/>
              <a:t>; Seminário.</a:t>
            </a:r>
          </a:p>
          <a:p>
            <a:pPr algn="just"/>
            <a:endParaRPr lang="pt-BR" sz="24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000" dirty="0">
                <a:hlinkClick r:id="rId2"/>
              </a:rPr>
              <a:t>https://github.com/RafaelFN1230/NF_Java</a:t>
            </a: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000" dirty="0">
                <a:hlinkClick r:id="rId3"/>
              </a:rPr>
              <a:t>https://github.com/jairocket/find-your-home</a:t>
            </a: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000" dirty="0">
                <a:hlinkClick r:id="rId4"/>
              </a:rPr>
              <a:t>https://github.com/NotKing22/Javaweb-project</a:t>
            </a: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000" dirty="0">
                <a:hlinkClick r:id="rId5"/>
              </a:rPr>
              <a:t>https://github.com/Gusrrocha/Librell</a:t>
            </a:r>
            <a:r>
              <a:rPr lang="pt-BR" sz="2000" dirty="0"/>
              <a:t>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26581106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Python Big Data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5D968F1-CA9D-0A5F-F758-CB41EDF01853}"/>
              </a:ext>
            </a:extLst>
          </p:cNvPr>
          <p:cNvSpPr txBox="1"/>
          <p:nvPr/>
        </p:nvSpPr>
        <p:spPr>
          <a:xfrm>
            <a:off x="468488" y="1112785"/>
            <a:ext cx="7512755" cy="37240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pt-BR" sz="2400" dirty="0"/>
              <a:t>Análise de Dados: </a:t>
            </a:r>
            <a:r>
              <a:rPr lang="pt-BR" sz="2400" dirty="0">
                <a:solidFill>
                  <a:srgbClr val="FF0000"/>
                </a:solidFill>
              </a:rPr>
              <a:t>Google </a:t>
            </a:r>
            <a:r>
              <a:rPr lang="pt-BR" sz="2400" dirty="0" err="1">
                <a:solidFill>
                  <a:srgbClr val="FF0000"/>
                </a:solidFill>
              </a:rPr>
              <a:t>Colab</a:t>
            </a:r>
            <a:r>
              <a:rPr lang="pt-BR" sz="2400" dirty="0">
                <a:solidFill>
                  <a:srgbClr val="FF0000"/>
                </a:solidFill>
              </a:rPr>
              <a:t> </a:t>
            </a:r>
            <a:r>
              <a:rPr lang="pt-BR" sz="2400" dirty="0" err="1">
                <a:solidFill>
                  <a:srgbClr val="FF0000"/>
                </a:solidFill>
              </a:rPr>
              <a:t>datasets</a:t>
            </a:r>
            <a:r>
              <a:rPr lang="pt-BR" sz="2400" dirty="0"/>
              <a:t>; atividades processuais: Resenha Artigo; Configuração Spark; Análise de </a:t>
            </a:r>
            <a:r>
              <a:rPr lang="pt-BR" sz="2400" dirty="0" err="1"/>
              <a:t>dataset</a:t>
            </a:r>
            <a:r>
              <a:rPr lang="pt-BR" sz="2400" dirty="0"/>
              <a:t>; </a:t>
            </a:r>
            <a:r>
              <a:rPr lang="pt-BR" sz="2400" dirty="0" err="1"/>
              <a:t>kahoot</a:t>
            </a:r>
            <a:r>
              <a:rPr lang="pt-BR" sz="2400" dirty="0"/>
              <a:t>, mini avalições discursivas.</a:t>
            </a:r>
          </a:p>
          <a:p>
            <a:pPr algn="just"/>
            <a:endParaRPr lang="pt-BR" sz="24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000" dirty="0">
                <a:hlinkClick r:id="rId2"/>
              </a:rPr>
              <a:t>https://github.com/DanK007/aula-heleno</a:t>
            </a: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000" dirty="0">
                <a:hlinkClick r:id="rId3"/>
              </a:rPr>
              <a:t>https://github.com/EdmBello/Dataset-BigData</a:t>
            </a: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pt-BR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09624841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Fotos Eventos </a:t>
            </a:r>
            <a:r>
              <a:rPr lang="pt-BR" dirty="0" err="1">
                <a:solidFill>
                  <a:schemeClr val="bg1"/>
                </a:solidFill>
              </a:rPr>
              <a:t>Eng</a:t>
            </a:r>
            <a:r>
              <a:rPr lang="pt-BR" dirty="0">
                <a:solidFill>
                  <a:schemeClr val="bg1"/>
                </a:solidFill>
              </a:rPr>
              <a:t> Soft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Imagem 3" descr="Uma imagem contendo no interior, teto, pessoa, homem&#10;&#10;Descrição gerada automaticamente">
            <a:extLst>
              <a:ext uri="{FF2B5EF4-FFF2-40B4-BE49-F238E27FC236}">
                <a16:creationId xmlns:a16="http://schemas.microsoft.com/office/drawing/2014/main" id="{DC6C4D22-E205-4C42-09E2-F853D3E3ED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111" y="1067505"/>
            <a:ext cx="5088467" cy="381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07173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Fotos Eventos </a:t>
            </a:r>
            <a:r>
              <a:rPr lang="pt-BR" dirty="0" err="1">
                <a:solidFill>
                  <a:schemeClr val="bg1"/>
                </a:solidFill>
              </a:rPr>
              <a:t>Eng</a:t>
            </a:r>
            <a:r>
              <a:rPr lang="pt-BR" dirty="0">
                <a:solidFill>
                  <a:schemeClr val="bg1"/>
                </a:solidFill>
              </a:rPr>
              <a:t> Soft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Imagem 2" descr="Pessoas em uma sala&#10;&#10;Descrição gerada automaticamente com confiança média">
            <a:extLst>
              <a:ext uri="{FF2B5EF4-FFF2-40B4-BE49-F238E27FC236}">
                <a16:creationId xmlns:a16="http://schemas.microsoft.com/office/drawing/2014/main" id="{195C6D53-89A6-55AB-07E6-44D79D254E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488" y="1154994"/>
            <a:ext cx="5077178" cy="380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0860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Fotos Eventos </a:t>
            </a:r>
            <a:r>
              <a:rPr lang="pt-BR" dirty="0" err="1">
                <a:solidFill>
                  <a:schemeClr val="bg1"/>
                </a:solidFill>
              </a:rPr>
              <a:t>Eng</a:t>
            </a:r>
            <a:r>
              <a:rPr lang="pt-BR" dirty="0">
                <a:solidFill>
                  <a:schemeClr val="bg1"/>
                </a:solidFill>
              </a:rPr>
              <a:t> Soft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Imagem 6" descr="Uma imagem contendo no interior, teto, mesa, homem&#10;&#10;Descrição gerada automaticamente">
            <a:extLst>
              <a:ext uri="{FF2B5EF4-FFF2-40B4-BE49-F238E27FC236}">
                <a16:creationId xmlns:a16="http://schemas.microsoft.com/office/drawing/2014/main" id="{EA4C8A25-7A59-902C-B3E9-4106BF31A2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245" y="1160638"/>
            <a:ext cx="5009444" cy="375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5384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Fotos Eventos </a:t>
            </a:r>
            <a:r>
              <a:rPr lang="pt-BR" dirty="0" err="1">
                <a:solidFill>
                  <a:schemeClr val="bg1"/>
                </a:solidFill>
              </a:rPr>
              <a:t>Eng</a:t>
            </a:r>
            <a:r>
              <a:rPr lang="pt-BR" dirty="0">
                <a:solidFill>
                  <a:schemeClr val="bg1"/>
                </a:solidFill>
              </a:rPr>
              <a:t> Soft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Imagem 2" descr="Homem em pé em frente a mesa&#10;&#10;Descrição gerada automaticamente com confiança média">
            <a:extLst>
              <a:ext uri="{FF2B5EF4-FFF2-40B4-BE49-F238E27FC236}">
                <a16:creationId xmlns:a16="http://schemas.microsoft.com/office/drawing/2014/main" id="{42D671F9-0669-362D-8C32-78B424B08E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711" y="1138060"/>
            <a:ext cx="4828822" cy="362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0373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Fotos Eventos </a:t>
            </a:r>
            <a:r>
              <a:rPr lang="pt-BR" dirty="0" err="1">
                <a:solidFill>
                  <a:schemeClr val="bg1"/>
                </a:solidFill>
              </a:rPr>
              <a:t>Eng</a:t>
            </a:r>
            <a:r>
              <a:rPr lang="pt-BR" dirty="0">
                <a:solidFill>
                  <a:schemeClr val="bg1"/>
                </a:solidFill>
              </a:rPr>
              <a:t> Soft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Imagem 6" descr="Homem em pé em frente a televisão&#10;&#10;Descrição gerada automaticamente">
            <a:extLst>
              <a:ext uri="{FF2B5EF4-FFF2-40B4-BE49-F238E27FC236}">
                <a16:creationId xmlns:a16="http://schemas.microsoft.com/office/drawing/2014/main" id="{0172EA82-89AF-F25D-4656-D741C4B5B5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9330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Fotos Eventos </a:t>
            </a:r>
            <a:r>
              <a:rPr lang="pt-BR" dirty="0" err="1">
                <a:solidFill>
                  <a:schemeClr val="bg1"/>
                </a:solidFill>
              </a:rPr>
              <a:t>Eng</a:t>
            </a:r>
            <a:r>
              <a:rPr lang="pt-BR" dirty="0">
                <a:solidFill>
                  <a:schemeClr val="bg1"/>
                </a:solidFill>
              </a:rPr>
              <a:t> Soft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1" name="Imagem 20" descr="Homem sentado em frente a televisão&#10;&#10;Descrição gerada automaticamente com confiança baixa">
            <a:extLst>
              <a:ext uri="{FF2B5EF4-FFF2-40B4-BE49-F238E27FC236}">
                <a16:creationId xmlns:a16="http://schemas.microsoft.com/office/drawing/2014/main" id="{DD03036A-A235-0A68-2734-518E0759ED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489" y="1129594"/>
            <a:ext cx="5020733" cy="376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17884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Fotos Eventos </a:t>
            </a:r>
            <a:r>
              <a:rPr lang="pt-BR" dirty="0" err="1">
                <a:solidFill>
                  <a:schemeClr val="bg1"/>
                </a:solidFill>
              </a:rPr>
              <a:t>Eng</a:t>
            </a:r>
            <a:r>
              <a:rPr lang="pt-BR" dirty="0">
                <a:solidFill>
                  <a:schemeClr val="bg1"/>
                </a:solidFill>
              </a:rPr>
              <a:t> Soft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" name="Imagem 19" descr="Pessoa em pé em frente a computador&#10;&#10;Descrição gerada automaticamente com confiança média">
            <a:extLst>
              <a:ext uri="{FF2B5EF4-FFF2-40B4-BE49-F238E27FC236}">
                <a16:creationId xmlns:a16="http://schemas.microsoft.com/office/drawing/2014/main" id="{08699DDF-3C91-5B9B-AB72-4ED69D1A32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1145215"/>
            <a:ext cx="5269089" cy="395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4142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Fotos Eventos Java POO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Imagem 2" descr="Uma imagem contendo no interior, pessoa, teto, mesa&#10;&#10;Descrição gerada automaticamente">
            <a:extLst>
              <a:ext uri="{FF2B5EF4-FFF2-40B4-BE49-F238E27FC236}">
                <a16:creationId xmlns:a16="http://schemas.microsoft.com/office/drawing/2014/main" id="{3E33E771-2CED-E06C-C16E-3518111254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822" y="1112659"/>
            <a:ext cx="5133622" cy="385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2574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Fotos Eventos Java POO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Imagem 11" descr="Uma imagem contendo Texto&#10;&#10;Descrição gerada automaticamente">
            <a:extLst>
              <a:ext uri="{FF2B5EF4-FFF2-40B4-BE49-F238E27FC236}">
                <a16:creationId xmlns:a16="http://schemas.microsoft.com/office/drawing/2014/main" id="{FBD0DCF1-7978-A3F4-E96B-24351DBA80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156" y="988468"/>
            <a:ext cx="5325533" cy="399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0099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Fotos Eventos Java POO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Imagem 2" descr="Homem falando no microfone&#10;&#10;Descrição gerada automaticamente com confiança média">
            <a:extLst>
              <a:ext uri="{FF2B5EF4-FFF2-40B4-BE49-F238E27FC236}">
                <a16:creationId xmlns:a16="http://schemas.microsoft.com/office/drawing/2014/main" id="{C68E3A58-3CC3-935E-FF7C-9A71AF0EF0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578" y="1115483"/>
            <a:ext cx="4828822" cy="362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75280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Fotos Eventos Java POO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Imagem 11" descr="Homem sentado em uma cadeira&#10;&#10;Descrição gerada automaticamente com confiança média">
            <a:extLst>
              <a:ext uri="{FF2B5EF4-FFF2-40B4-BE49-F238E27FC236}">
                <a16:creationId xmlns:a16="http://schemas.microsoft.com/office/drawing/2014/main" id="{C4844F4D-FDA1-7054-25E0-044AAA3874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794" y="1077482"/>
            <a:ext cx="535940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7179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Fotos Eventos Java POO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4" name="Imagem 13" descr="Mulher sentada em frente a computador&#10;&#10;Descrição gerada automaticamente com confiança média">
            <a:extLst>
              <a:ext uri="{FF2B5EF4-FFF2-40B4-BE49-F238E27FC236}">
                <a16:creationId xmlns:a16="http://schemas.microsoft.com/office/drawing/2014/main" id="{F8B9B0AF-4147-152E-DC2E-E89152D004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333" y="1060548"/>
            <a:ext cx="5381978" cy="403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51059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Fotos Eventos Java POO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Imagem 2" descr="Pessoas em uma sala&#10;&#10;Descrição gerada automaticamente">
            <a:extLst>
              <a:ext uri="{FF2B5EF4-FFF2-40B4-BE49-F238E27FC236}">
                <a16:creationId xmlns:a16="http://schemas.microsoft.com/office/drawing/2014/main" id="{B7FF2669-5F5F-F9ED-9963-092C9D0993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311" y="1073149"/>
            <a:ext cx="5246511" cy="393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44855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607" y="46468"/>
            <a:ext cx="608777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Fotos Eventos Java POO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8" name="Imagem 17" descr="Uma imagem contendo teto, no interior, pessoa, em pé&#10;&#10;Descrição gerada automaticamente">
            <a:extLst>
              <a:ext uri="{FF2B5EF4-FFF2-40B4-BE49-F238E27FC236}">
                <a16:creationId xmlns:a16="http://schemas.microsoft.com/office/drawing/2014/main" id="{EAE420B2-B1EB-EECE-8116-31ABE6ADB8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200" y="1033624"/>
            <a:ext cx="5338587" cy="400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232840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239" y="306113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Pergunta da Plateia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Imagem 3" descr="Desenho de personagem de desenho animado&#10;&#10;Descrição gerada automaticamente com confiança média">
            <a:extLst>
              <a:ext uri="{FF2B5EF4-FFF2-40B4-BE49-F238E27FC236}">
                <a16:creationId xmlns:a16="http://schemas.microsoft.com/office/drawing/2014/main" id="{1378898C-F74D-AA36-2F6F-380979EB0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731" y="1366135"/>
            <a:ext cx="3745089" cy="374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14024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7C63-F2EC-3C46-F573-CE240809155A}"/>
              </a:ext>
            </a:extLst>
          </p:cNvPr>
          <p:cNvSpPr txBox="1">
            <a:spLocks/>
          </p:cNvSpPr>
          <p:nvPr/>
        </p:nvSpPr>
        <p:spPr>
          <a:xfrm>
            <a:off x="722900" y="4029915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Obrigado!!! 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Personalizada 2">
      <a:majorFont>
        <a:latin typeface="Big Shoulders Display Black"/>
        <a:ea typeface="Calibri"/>
        <a:cs typeface="Calibri"/>
      </a:majorFont>
      <a:minorFont>
        <a:latin typeface="Georam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7E326A6FBD7C948AAF887265A2DB080" ma:contentTypeVersion="13" ma:contentTypeDescription="Crie um novo documento." ma:contentTypeScope="" ma:versionID="5629727caf6964b78819cfb788ada473">
  <xsd:schema xmlns:xsd="http://www.w3.org/2001/XMLSchema" xmlns:xs="http://www.w3.org/2001/XMLSchema" xmlns:p="http://schemas.microsoft.com/office/2006/metadata/properties" xmlns:ns2="bab2302b-9cf7-40b9-b316-803bc24ea342" xmlns:ns3="c298cbf6-df3b-44f4-88ee-2b3d9158f680" targetNamespace="http://schemas.microsoft.com/office/2006/metadata/properties" ma:root="true" ma:fieldsID="929990cc5bdd3bebd2af3f9d94cdeeec" ns2:_="" ns3:_="">
    <xsd:import namespace="bab2302b-9cf7-40b9-b316-803bc24ea342"/>
    <xsd:import namespace="c298cbf6-df3b-44f4-88ee-2b3d9158f6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2302b-9cf7-40b9-b316-803bc24ea3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98cbf6-df3b-44f4-88ee-2b3d9158f68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ED456AD-07D2-43E3-AD57-2C90490666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7BB859-CC6B-497C-9B96-0A0D80ADCD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b2302b-9cf7-40b9-b316-803bc24ea342"/>
    <ds:schemaRef ds:uri="c298cbf6-df3b-44f4-88ee-2b3d9158f6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61A30F4-F1EA-4F98-A164-76D337EE556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1948</TotalTime>
  <Words>462</Words>
  <Application>Microsoft Office PowerPoint</Application>
  <PresentationFormat>Apresentação na tela (16:9)</PresentationFormat>
  <Paragraphs>88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1" baseType="lpstr">
      <vt:lpstr>Arial</vt:lpstr>
      <vt:lpstr>Big Shoulders Display Black</vt:lpstr>
      <vt:lpstr>Bookman Old Style</vt:lpstr>
      <vt:lpstr>Calibri</vt:lpstr>
      <vt:lpstr>Wingdings</vt:lpstr>
      <vt:lpstr>Office Theme</vt:lpstr>
      <vt:lpstr>Apresentação do PowerPoint</vt:lpstr>
      <vt:lpstr>Apresentação do PowerPoint</vt:lpstr>
      <vt:lpstr>Introdução</vt:lpstr>
      <vt:lpstr>Introdução</vt:lpstr>
      <vt:lpstr>Arquitetura de Computador</vt:lpstr>
      <vt:lpstr>Banco de Dados</vt:lpstr>
      <vt:lpstr>Engenharia de Software</vt:lpstr>
      <vt:lpstr>JAVA POO</vt:lpstr>
      <vt:lpstr>Python Big Data</vt:lpstr>
      <vt:lpstr>Fotos Eventos Eng Soft</vt:lpstr>
      <vt:lpstr>Fotos Eventos Eng Soft</vt:lpstr>
      <vt:lpstr>Fotos Eventos Eng Soft</vt:lpstr>
      <vt:lpstr>Fotos Eventos Eng Soft</vt:lpstr>
      <vt:lpstr>Fotos Eventos Eng Soft</vt:lpstr>
      <vt:lpstr>Fotos Eventos Eng Soft</vt:lpstr>
      <vt:lpstr>Fotos Eventos Eng Soft</vt:lpstr>
      <vt:lpstr>Fotos Eventos Java POO</vt:lpstr>
      <vt:lpstr>Fotos Eventos Java POO</vt:lpstr>
      <vt:lpstr>Fotos Eventos Java POO</vt:lpstr>
      <vt:lpstr>Fotos Eventos Java POO</vt:lpstr>
      <vt:lpstr>Fotos Eventos Java POO</vt:lpstr>
      <vt:lpstr>Fotos Eventos Java POO</vt:lpstr>
      <vt:lpstr>Fotos Eventos Java POO</vt:lpstr>
      <vt:lpstr>Pergunta da Plateia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NONONONONO NONONONONO NONONONO</dc:title>
  <dc:creator>Anderson Carvalho dos  Santos</dc:creator>
  <cp:lastModifiedBy>HELENO CARDOSO DA SILVA FILHO</cp:lastModifiedBy>
  <cp:revision>220</cp:revision>
  <dcterms:modified xsi:type="dcterms:W3CDTF">2024-06-08T20:57:16Z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0x010100E7E326A6FBD7C948AAF887265A2DB080</vt:lpwstr>
  </property>
</Properties>
</file>