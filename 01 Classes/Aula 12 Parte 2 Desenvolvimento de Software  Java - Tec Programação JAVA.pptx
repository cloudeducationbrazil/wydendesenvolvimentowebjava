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5"/>
  </p:notesMasterIdLst>
  <p:sldIdLst>
    <p:sldId id="256" r:id="rId2"/>
    <p:sldId id="291" r:id="rId3"/>
    <p:sldId id="452" r:id="rId4"/>
    <p:sldId id="455" r:id="rId5"/>
    <p:sldId id="456" r:id="rId6"/>
    <p:sldId id="458" r:id="rId7"/>
    <p:sldId id="457" r:id="rId8"/>
    <p:sldId id="398" r:id="rId9"/>
    <p:sldId id="407" r:id="rId10"/>
    <p:sldId id="408" r:id="rId11"/>
    <p:sldId id="406" r:id="rId12"/>
    <p:sldId id="409" r:id="rId13"/>
    <p:sldId id="411" r:id="rId14"/>
    <p:sldId id="412" r:id="rId15"/>
    <p:sldId id="413" r:id="rId16"/>
    <p:sldId id="414" r:id="rId17"/>
    <p:sldId id="410" r:id="rId18"/>
    <p:sldId id="454" r:id="rId19"/>
    <p:sldId id="442" r:id="rId20"/>
    <p:sldId id="453" r:id="rId21"/>
    <p:sldId id="459" r:id="rId22"/>
    <p:sldId id="460" r:id="rId23"/>
    <p:sldId id="461" r:id="rId24"/>
    <p:sldId id="403" r:id="rId25"/>
    <p:sldId id="420" r:id="rId26"/>
    <p:sldId id="422" r:id="rId27"/>
    <p:sldId id="423" r:id="rId28"/>
    <p:sldId id="424" r:id="rId29"/>
    <p:sldId id="425" r:id="rId30"/>
    <p:sldId id="426" r:id="rId31"/>
    <p:sldId id="427" r:id="rId32"/>
    <p:sldId id="428" r:id="rId33"/>
    <p:sldId id="429" r:id="rId34"/>
    <p:sldId id="430" r:id="rId35"/>
    <p:sldId id="431" r:id="rId36"/>
    <p:sldId id="432" r:id="rId37"/>
    <p:sldId id="433" r:id="rId38"/>
    <p:sldId id="434" r:id="rId39"/>
    <p:sldId id="462" r:id="rId40"/>
    <p:sldId id="463" r:id="rId41"/>
    <p:sldId id="435" r:id="rId42"/>
    <p:sldId id="436" r:id="rId43"/>
    <p:sldId id="464" r:id="rId44"/>
    <p:sldId id="405" r:id="rId45"/>
    <p:sldId id="415" r:id="rId46"/>
    <p:sldId id="439" r:id="rId47"/>
    <p:sldId id="418" r:id="rId48"/>
    <p:sldId id="419" r:id="rId49"/>
    <p:sldId id="417" r:id="rId50"/>
    <p:sldId id="437" r:id="rId51"/>
    <p:sldId id="399" r:id="rId52"/>
    <p:sldId id="416" r:id="rId53"/>
    <p:sldId id="402" r:id="rId54"/>
    <p:sldId id="400" r:id="rId55"/>
    <p:sldId id="449" r:id="rId56"/>
    <p:sldId id="401" r:id="rId57"/>
    <p:sldId id="404" r:id="rId58"/>
    <p:sldId id="438" r:id="rId59"/>
    <p:sldId id="440" r:id="rId60"/>
    <p:sldId id="441" r:id="rId61"/>
    <p:sldId id="443" r:id="rId62"/>
    <p:sldId id="444" r:id="rId63"/>
    <p:sldId id="450" r:id="rId64"/>
    <p:sldId id="451" r:id="rId65"/>
    <p:sldId id="445" r:id="rId66"/>
    <p:sldId id="446" r:id="rId67"/>
    <p:sldId id="447" r:id="rId68"/>
    <p:sldId id="448" r:id="rId69"/>
    <p:sldId id="333" r:id="rId70"/>
    <p:sldId id="323" r:id="rId71"/>
    <p:sldId id="334" r:id="rId72"/>
    <p:sldId id="337" r:id="rId73"/>
    <p:sldId id="309" r:id="rId7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642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2008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292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015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9151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5880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1108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6102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7475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8166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8075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162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2025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058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69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3185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6480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8353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4145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1948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5009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8097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9632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68966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8252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9531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70772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01344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89742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02522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22412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01015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4831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10369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62370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22652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79685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4401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70134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87570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30888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2600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39356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2084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20570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93667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6534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30940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85791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12818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127291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31606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64935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08704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2654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629048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2222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74734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59827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46399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49269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18962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64200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60897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505954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75606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45871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dkmlOi_MNb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mder.n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-scm.com/downloa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cZls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azul.com/downloads/?package=jdk" TargetMode="External"/><Relationship Id="rId4" Type="http://schemas.openxmlformats.org/officeDocument/2006/relationships/hyperlink" Target="http://jdk.java.net/18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E3sVM6ozn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it.ly/3yScxh0" TargetMode="External"/><Relationship Id="rId5" Type="http://schemas.openxmlformats.org/officeDocument/2006/relationships/hyperlink" Target="https://www.eclipse.org/downloads/packages/" TargetMode="External"/><Relationship Id="rId4" Type="http://schemas.openxmlformats.org/officeDocument/2006/relationships/hyperlink" Target="https://netbeans.apache.org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zul.com/downloads/?package=jd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tool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.spring.io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91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packages/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oracle.com/javase/8/docs/" TargetMode="External"/><Relationship Id="rId4" Type="http://schemas.openxmlformats.org/officeDocument/2006/relationships/hyperlink" Target="https://www.w3schools.com/java/default.asp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ee8zOw_FQ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ortalgsti.com.br/2016/10/curso-gratuito-java-pela-xti.html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ecrowd.com.br/judge/pt/categories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3schools.com/jquery/jquery_quiz.asp" TargetMode="External"/><Relationship Id="rId5" Type="http://schemas.openxmlformats.org/officeDocument/2006/relationships/hyperlink" Target="https://www.beecrowd.com.br/judge/en/problems/view/1094?origem=1" TargetMode="External"/><Relationship Id="rId4" Type="http://schemas.openxmlformats.org/officeDocument/2006/relationships/hyperlink" Target="https://www.beecrowd.com.br/judge/en/problems/view/1078?origem=1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12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JAVA – Técnicas de Programação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VSCode</a:t>
            </a:r>
            <a:r>
              <a:rPr lang="en-US" b="1" dirty="0">
                <a:solidFill>
                  <a:srgbClr val="0070C0"/>
                </a:solidFill>
              </a:rPr>
              <a:t> – IDE HTML/CSS/JS/JQUERY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PHP; Python, C#, C, HTML/CSS/JS/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https://code.visualstudio.com/download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zipada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Instalar Extensões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server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servidor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color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891540" lvl="2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Script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IntelliCode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JSX HTML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F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 with JAVA STS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https://www.youtube.com/watch?v=dkmlOi_MNb4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Instalar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Extensões ...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072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Versionamento</a:t>
            </a:r>
            <a:r>
              <a:rPr lang="en-US" b="1" dirty="0">
                <a:solidFill>
                  <a:srgbClr val="0070C0"/>
                </a:solidFill>
              </a:rPr>
              <a:t> – Terminal Root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 no github.com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(URL: https://github.com)</a:t>
            </a:r>
          </a:p>
          <a:p>
            <a:pPr marL="0" indent="0" algn="just">
              <a:buNone/>
            </a:pP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Controle de Versão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Cmder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Emulador de Terminal Root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URL: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https://cmder.net/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ZIPADA)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Controle de Versão GIT – Emulador de Terminal Root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URL: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https://git-scm.com/download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Instalador)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53789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Comandos</a:t>
            </a:r>
            <a:r>
              <a:rPr lang="en-US" b="1" dirty="0">
                <a:solidFill>
                  <a:srgbClr val="0070C0"/>
                </a:solidFill>
              </a:rPr>
              <a:t> GIT – Terminal Root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projeto,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JAVAWEB,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github.com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Depois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instalar a tools GIT/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clicar com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botão direito do mouse na pasta projeto LOCAL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 GIT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--global user.name 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 nome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--global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user.email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3401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Comandos</a:t>
            </a:r>
            <a:r>
              <a:rPr lang="en-US" b="1" dirty="0">
                <a:solidFill>
                  <a:srgbClr val="0070C0"/>
                </a:solidFill>
              </a:rPr>
              <a:t> GIT – Terminal Root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(Cria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ponteiro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na pasta)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"# PROJETO JAVA WEB"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README.md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README.md ou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Arqs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Projeto Web em JAVA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suaConta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JAVAWEB.git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???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ou 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aonde será executado 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???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722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Comandos</a:t>
            </a:r>
            <a:r>
              <a:rPr lang="en-US" b="1" dirty="0">
                <a:solidFill>
                  <a:srgbClr val="0070C0"/>
                </a:solidFill>
              </a:rPr>
              <a:t> GIT – Terminal Root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Digitar no google: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(Pesquisar tema SSH) - Token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lphaLcParenR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gerar uma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chave SSH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computador. b) cadastrar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chave SSH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seu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Credenciais do Windows (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 em credencial genérica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AutoNum type="alphaLcParenR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Endereço rede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git:https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://github.com);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Usuário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Senha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gerado na plataforma GITHUB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2135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Histórico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Inicialmente 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linguagem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foi batizada de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carvalho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uma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 ao carvalho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Gosling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seu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escritório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época era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 objetos do mundo real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através do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gráfica em JAVA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 Microsystems)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Sun Microsystems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foi adquirida pela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 Corporation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8999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Histórico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era, originalmente, fabricante de computadores, semicondutores e software.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nome da linguagem desenvolvida pelo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Green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foi mudada de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Oak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 foi uma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homenagem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uma ilha da Indonésia de onde os Norte-Americanos importavam 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era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consumido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pela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equipe de James Gosling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Histórico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https://bit.ly/3acZlsX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09654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Exemplos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Aplicação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Aplicativos bancários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banking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Chips de cartão de crédito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chips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leitura interface 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Aplicativos para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Ling. 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Blu-ray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Kindle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Leitura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DTVi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de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smartTV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Imposto de Renda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SPED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Fiscal/Social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978513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uma linguagem orientada a 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compilada,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multiparadigma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fortemente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tipada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tipagem estática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(Java Virtual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Padrão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Anywhere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Codifique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uma vez,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qualquer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960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=&gt;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JRE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(Kit de desenvolvimento de software).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65409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conjunto de software que forma um ambiente para a execução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feitos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Ela é composta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 e bibliotecas adicionais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solução capaz de executar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qualquer máquina,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independente da plataforma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o Código Fonte foi compilado.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composta por: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pegar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carregar na RAM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Verificador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Memória da JVM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Compilador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(Just in Time).</a:t>
            </a:r>
          </a:p>
        </p:txBody>
      </p:sp>
    </p:spTree>
    <p:extLst>
      <p:ext uri="{BB962C8B-B14F-4D97-AF65-F5344CB8AC3E}">
        <p14:creationId xmlns:p14="http://schemas.microsoft.com/office/powerpoint/2010/main" val="24702091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rodam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várias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por exemplo,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computadores pessoais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móveis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dispositivos modernos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(relógios inteligentes, óculos inteligentes,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biblioteca JAVA. 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(Documentação JAVA).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91895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230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conjunto de programas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todo programador Java deve ter. Ele é um kit de desenvolvimento Java,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pela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JavaTools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Debugger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APIs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etc.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conhecidas são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Eclipse,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 NetBeans, </a:t>
            </a:r>
            <a:r>
              <a:rPr lang="pt-BR" sz="20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STS 4,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RAD(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Edições/Versões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Java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SE/EE/ME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para estudo das técnicas de programação,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LTS versão ZULU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SE,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Java EE,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Java ME,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093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Java SE = Standard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 – Janelas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Recursos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java.io,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java.math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java.net,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etc...).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Java EE = Enterprise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Aplicações de larga escala, sistemas distribuídos, etc. Recursos (JAVA SE),  bibliotecas para acesso a BD (JDBC, JPA), APIs (JMS, RMI), Java Server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(JSP),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portlets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ME = Micro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(Portátil) – </a:t>
            </a:r>
            <a:r>
              <a:rPr lang="pt-BR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pt-BR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e sistemas embutidos.</a:t>
            </a:r>
          </a:p>
        </p:txBody>
      </p:sp>
    </p:spTree>
    <p:extLst>
      <p:ext uri="{BB962C8B-B14F-4D97-AF65-F5344CB8AC3E}">
        <p14:creationId xmlns:p14="http://schemas.microsoft.com/office/powerpoint/2010/main" val="289392817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Links JDK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Opção 1 - JAVA ORACLE JDK LTS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msi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https://www.oracle.com/java/technologies/downloads/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Opção 2 - JDK (Kit de Desenvolvimento)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http://jdk.java.net/18/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 versão zip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Opção 3 - JDK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(Java JDK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Java JDK </a:t>
            </a:r>
            <a:r>
              <a:rPr lang="pt-BR" sz="20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17 LTS Zulu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https://www.azul.com/downloads/?package=jdk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 versão zip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versões JAVA: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STS; MTS;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86798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IDE/Tools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NETBEANS -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https://www.youtube.com/watch?v=7E3sVM6oznE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https://netbeans.apache.org/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ECLIPSE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EE Java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Web Developers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plugin STS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https://www.eclipse.org/downloads/packages/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 versão zip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JFX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– Construtor de Tela: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FX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https://bit.ly/3yScxh0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Insominia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heroku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8831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EE – </a:t>
            </a:r>
            <a:r>
              <a:rPr lang="en-US" b="1" dirty="0" err="1">
                <a:solidFill>
                  <a:srgbClr val="0070C0"/>
                </a:solidFill>
              </a:rPr>
              <a:t>Instalação</a:t>
            </a:r>
            <a:r>
              <a:rPr lang="en-US" b="1" dirty="0">
                <a:solidFill>
                  <a:srgbClr val="0070C0"/>
                </a:solidFill>
              </a:rPr>
              <a:t> Dev Web JDK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Azul Zulu Builds of OpenJDK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MTS; STS) 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https://www.azul.com/downloads/?package=jdk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 versão zip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JAVA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c:\Arquivos de Programas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64bits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Descompactar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arquivo zipado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mover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dentro da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JAVA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Configurar-Variáveis de Ambiente do Sistema,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criar/atualizar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JAVA_HOME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C:\Program Files\Java\zulu17.34.19-ca-jdk17.0.3-win_x64\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PATH=	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C:\Program Files\Java\zulu17.34.19-ca-jdk17.0.3-win_x64\bin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CLASSPATH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;%JAVA_HOME%\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;%JAVA_HOME%\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testar instalação (ok).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026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Instalação</a:t>
            </a:r>
            <a:r>
              <a:rPr lang="en-US" b="1" dirty="0">
                <a:solidFill>
                  <a:srgbClr val="0070C0"/>
                </a:solidFill>
              </a:rPr>
              <a:t> Dev Web IDE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Tools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for Eclipse (STS)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Embutida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https://spring.io/tools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Baixar a versão .JAR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 de auto extração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arquivo .JAR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arquivo contentes.zip dentro da pastar descompactada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sts-4.14.1.RELEASE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pasta c:\</a:t>
            </a:r>
          </a:p>
          <a:p>
            <a:pPr marL="457200" indent="-457200" algn="just">
              <a:buFont typeface="Arial" panose="020B0604020202020204"/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SpringToolSuite4.exe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18732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STS Spring Boot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URL: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https://start.spring.io/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Criar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e importar na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STS 4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 parâmetros de projeto: </a:t>
            </a:r>
          </a:p>
          <a:p>
            <a:pPr marL="904875" lvl="1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</a:p>
          <a:p>
            <a:pPr marL="904875" lvl="1" indent="-457200" algn="just">
              <a:buAutoNum type="arabicPeriod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904875" lvl="1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Manter a default (no caso, 2.7.0) </a:t>
            </a:r>
          </a:p>
          <a:p>
            <a:pPr marL="457200" indent="-457200" algn="just">
              <a:buAutoNum type="arabicPeriod" startAt="2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75" lvl="1" indent="-457200" algn="just"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do Projeto Web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04875" lvl="1" indent="-457200" algn="just">
              <a:buAutoNum type="arabicPeriod"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75" lvl="1" indent="-457200" algn="just">
              <a:buAutoNum type="arabicPeriod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JDK do seu projeto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4610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STS Spring Boot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49838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Instalar dependências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Web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GENERATE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zipado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Colocar na pasta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trabalho da IDE STS 4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5.3.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STS 4</a:t>
            </a:r>
          </a:p>
          <a:p>
            <a:pPr marL="447675" lvl="1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5.4.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Impotar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STS 4: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Projeto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Existente</a:t>
            </a:r>
          </a:p>
        </p:txBody>
      </p:sp>
    </p:spTree>
    <p:extLst>
      <p:ext uri="{BB962C8B-B14F-4D97-AF65-F5344CB8AC3E}">
        <p14:creationId xmlns:p14="http://schemas.microsoft.com/office/powerpoint/2010/main" val="374066921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STS Spring Boot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49838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Botão direito do mouse no projeto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-&gt;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App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adicionar/remover dependências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 projeto Web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botão direito do mouse no projeto, opção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Starters / Remover.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Caso, conflite com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8080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TOMCAT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um arquivo na pasta: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o nome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conteúdo: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server.port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8091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(ou outra porta)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http://localhost:8091/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(caso tenha alterado a porta)</a:t>
            </a:r>
          </a:p>
        </p:txBody>
      </p:sp>
    </p:spTree>
    <p:extLst>
      <p:ext uri="{BB962C8B-B14F-4D97-AF65-F5344CB8AC3E}">
        <p14:creationId xmlns:p14="http://schemas.microsoft.com/office/powerpoint/2010/main" val="319594184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tudo está associado 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e 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juntamente com seus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 e métodos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como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 de 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ou um "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criar uma classe, use a palavra-chave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Exemplo: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= 5;</a:t>
            </a: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6376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criado a partir de 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Criando um objeto chamado "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 imprimindo o valor de x: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= 5;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52515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​​dentro de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47675" lvl="1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= 5; //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= 3; //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012961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 da classe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usando a sintaxe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 (.)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= 5;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}</a:t>
            </a:r>
          </a:p>
          <a:p>
            <a:pPr marL="891540" lvl="2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 //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Modificando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valor de atributo: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18;</a:t>
            </a:r>
          </a:p>
        </p:txBody>
      </p:sp>
    </p:spTree>
    <p:extLst>
      <p:ext uri="{BB962C8B-B14F-4D97-AF65-F5344CB8AC3E}">
        <p14:creationId xmlns:p14="http://schemas.microsoft.com/office/powerpoint/2010/main" val="217292220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não substituir os valores existentes: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 o atributo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modifacador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Ex.:	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= 17;</a:t>
            </a:r>
          </a:p>
        </p:txBody>
      </p:sp>
    </p:spTree>
    <p:extLst>
      <p:ext uri="{BB962C8B-B14F-4D97-AF65-F5344CB8AC3E}">
        <p14:creationId xmlns:p14="http://schemas.microsoft.com/office/powerpoint/2010/main" val="147475931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“Julia";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“Cardoso";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idade = 24;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("Nome: " +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" " +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(“Idade: " +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.idade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8790531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dentro de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são usados ​​para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 ações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//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myMethod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(“Olá Mundo!");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}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307226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 estático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significa que ele pode ser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criar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 da 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só pode ser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acessado por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50569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myStaticMethod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("Métodos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 ser chamados sem criar objetos 						");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myPublicMethod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("Métodos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devem ser chamados criando objetos");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10794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method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static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(String[]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myStaticMethod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 Call the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method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myPublicMethod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This would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 an error</a:t>
            </a:r>
          </a:p>
          <a:p>
            <a:pPr marL="447675" lvl="1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 Create an object of Main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myObj.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myPublicMethod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 Call the public method on the object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60875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Java é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usado para inicializar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chamado quando um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uma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é criado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 ser usado para definir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iniciais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 de objeto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construtor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pode ter um tipo de retorno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24933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{// Create a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class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int x;  // Create a class attribute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{// Create a class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Main class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x = 5;  // Set the initial value for the class attribute x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(String[]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		Main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Main(); // Create an object of class Main (This will call the constructor)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.x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Print the value of x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 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76980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modelYear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year, String name)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modelYear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year;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name;   }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(String[]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Main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(1969, "Mustang");</a:t>
            </a:r>
          </a:p>
          <a:p>
            <a:pPr marL="447675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myCar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.modelYear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" " +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myCar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.modelName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19403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palavra-chave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 de acesso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que significa que é usada para definir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nível de acesso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classes, atributos, métodos e construtores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Dividimos 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dois grupos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Nível superior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Classes;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Nível Membro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Atributos e Métodos.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Modificadores de acesso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controla o nível de acesso.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Modificadores de não acesso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não controlam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nível de acesso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mas fornecem outras funcionalidades.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15023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pode usar: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classe é acessível a qualquer outra classe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classe só é acessível por classes no mesmo pacote.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atributos, métodos e construtores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código é acessível para todas as classes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código só é acessível dentro da classe declarada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código só é acessível no mesmo pacote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código é acessível no mesmo pacote e subclasses.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48295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>
                <a:solidFill>
                  <a:schemeClr val="tx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torna um membro da classe visível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 própria classe;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Pelas classes do mesmo pacote;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Pelas subclasses; 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qualquer classe, mesmo de outros pacotes;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82954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torna um membro da classe visível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 própria classe;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Pelas classes do mesmo pacote; 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Pelas subclasses;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torna um membro da classe visível 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 própria classe; 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Pelas classes do mesmo pacote;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torna um membro da classe visível  pela própria classe.</a:t>
            </a:r>
          </a:p>
        </p:txBody>
      </p:sp>
    </p:spTree>
    <p:extLst>
      <p:ext uri="{BB962C8B-B14F-4D97-AF65-F5344CB8AC3E}">
        <p14:creationId xmlns:p14="http://schemas.microsoft.com/office/powerpoint/2010/main" val="95179905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Modificadores de não acesso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br>
              <a:rPr lang="pt-BR" sz="2400" dirty="0"/>
            </a:br>
            <a:r>
              <a:rPr lang="pt-B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Para 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classes</a:t>
            </a:r>
            <a:r>
              <a:rPr lang="pt-B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pode usar:</a:t>
            </a:r>
          </a:p>
          <a:p>
            <a:pPr marL="0" indent="0" algn="just">
              <a:buNone/>
            </a:pPr>
            <a:endParaRPr lang="pt-BR" sz="24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final</a:t>
            </a:r>
            <a:r>
              <a:rPr lang="pt-B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: A classe não pode ser herdada por outras classes</a:t>
            </a:r>
          </a:p>
          <a:p>
            <a:pPr marL="0" indent="0" algn="just">
              <a:buNone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abstract</a:t>
            </a:r>
            <a:r>
              <a:rPr lang="pt-B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A classe não pode ser usada para criar objetos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0813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 e métodos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pode usar um dos seguintes: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final 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Nota: 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tributos e métodos pertencem à classe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vez de um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significa que este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 valor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retorno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2284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Classes/</a:t>
            </a:r>
            <a:r>
              <a:rPr lang="en-US" b="1" dirty="0" err="1">
                <a:solidFill>
                  <a:srgbClr val="0070C0"/>
                </a:solidFill>
              </a:rPr>
              <a:t>Objeto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Atributo</a:t>
            </a:r>
            <a:r>
              <a:rPr lang="en-US" b="1" dirty="0">
                <a:solidFill>
                  <a:srgbClr val="0070C0"/>
                </a:solidFill>
              </a:rPr>
              <a:t>/Met.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esse modificador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quando é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não permite estende-la, nos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impede que o mesmo seja sobrescrito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na subclasse, e nos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 de variáveis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não pode ser alterado depois que já tenha sido atribuído um valor.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 modificador,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é aplicado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apenas nas classes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abstrata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 ser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instanciada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ou seja, não pode ser chamada pelos seus construtores. Se houver alguma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(abstrato),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 também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 ser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marcada como abstract.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8602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Comentário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Comentário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 de código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   */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Comentário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bloco de código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15002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Saída</a:t>
            </a:r>
            <a:r>
              <a:rPr lang="en-US" b="1" dirty="0">
                <a:solidFill>
                  <a:srgbClr val="0070C0"/>
                </a:solidFill>
              </a:rPr>
              <a:t> de Dados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Mensagem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“);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Mensagem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“); // Impressão próxima linha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Mensagem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+ Variável);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 + 5 * 2);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(“Meu nome é: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%s \n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%?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formatação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(“Meu nome é: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%s %n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%?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formatação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(“Idade: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idade);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(“Salario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%.2f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sal);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0964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Operadores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aritméticos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%/*; +-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de atribuição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=; +=; -=; /=; %=; *=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de comparação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==; !=; &gt;; &lt;; &gt;=; &lt;=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lógicos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!; &amp;&amp;; ||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constantes: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false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 bit a bit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&lt;&lt; &gt;&gt; e &gt;&gt;&gt;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Decrement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++; --</a:t>
            </a:r>
          </a:p>
        </p:txBody>
      </p:sp>
    </p:spTree>
    <p:extLst>
      <p:ext uri="{BB962C8B-B14F-4D97-AF65-F5344CB8AC3E}">
        <p14:creationId xmlns:p14="http://schemas.microsoft.com/office/powerpoint/2010/main" val="3860606235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Estrutura</a:t>
            </a:r>
            <a:r>
              <a:rPr lang="en-US" b="1" dirty="0">
                <a:solidFill>
                  <a:srgbClr val="0070C0"/>
                </a:solidFill>
              </a:rPr>
              <a:t> do </a:t>
            </a:r>
            <a:r>
              <a:rPr lang="en-US" b="1" dirty="0" err="1">
                <a:solidFill>
                  <a:srgbClr val="0070C0"/>
                </a:solidFill>
              </a:rPr>
              <a:t>Programa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nomepacote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opcional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// IDE: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https://www.onlinegdb.com/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Iniciais maiúscula;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CamelCase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Classe/Interface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//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 principal -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psvm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World!!!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“); //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	  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tudo minúsculo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Atributo/Variável/Método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(inicia com minúscula, demais com maiúscula.</a:t>
            </a:r>
          </a:p>
        </p:txBody>
      </p:sp>
    </p:spTree>
    <p:extLst>
      <p:ext uri="{BB962C8B-B14F-4D97-AF65-F5344CB8AC3E}">
        <p14:creationId xmlns:p14="http://schemas.microsoft.com/office/powerpoint/2010/main" val="3687489335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Entrada de Dados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java.util.Locale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Locale.setDefault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(Locale.US);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(System.in); // System.in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teclado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idade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nextInt</a:t>
            </a:r>
            <a:r>
              <a:rPr lang="pt-BR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		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entrada.nextLine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idade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nextFloat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idade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nome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final do programa, lembrar de fechar o Scanner,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8361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Tipos</a:t>
            </a:r>
            <a:r>
              <a:rPr lang="en-US" b="1" dirty="0">
                <a:solidFill>
                  <a:srgbClr val="0070C0"/>
                </a:solidFill>
              </a:rPr>
              <a:t> de Dados </a:t>
            </a:r>
            <a:r>
              <a:rPr lang="en-US" b="1" dirty="0" err="1">
                <a:solidFill>
                  <a:srgbClr val="0070C0"/>
                </a:solidFill>
              </a:rPr>
              <a:t>Primitivos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número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lógico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literal;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flutuante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flutuante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“Julia Cardoso";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70072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Tipos</a:t>
            </a:r>
            <a:r>
              <a:rPr lang="en-US" b="1" dirty="0">
                <a:solidFill>
                  <a:srgbClr val="0070C0"/>
                </a:solidFill>
              </a:rPr>
              <a:t> de Dados </a:t>
            </a:r>
            <a:r>
              <a:rPr lang="en-US" b="1" dirty="0" err="1">
                <a:solidFill>
                  <a:srgbClr val="0070C0"/>
                </a:solidFill>
              </a:rPr>
              <a:t>Primitivos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Casting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conversão de tipo. Em Java, existem dois tipos de conversão: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Widening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Casting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convertendo um tipo menor em um tamanho de tipo maior: byte -&gt; short -&gt; char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Ex.: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myInt = 9; 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myDouble =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myInt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Narrowing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Casting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convertendo um tipo maior para um tipo de tamanho menor: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char -&gt; short -&gt; byte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,: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9.78;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46132746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Variáveis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Constante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endereços de memória; Possuir semântica;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Regra padrão de nomenclatura de variáveis (inicia com letra e não pode conter caracteres especiais e ser palavras reservadas). Ex.: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idade;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FATOR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2.0; //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palavra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significa que o valor atribuído não poderá ser alterado após a inicialização do elemento.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89804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Exemplo</a:t>
            </a:r>
            <a:r>
              <a:rPr lang="en-US" b="1" dirty="0">
                <a:solidFill>
                  <a:srgbClr val="0070C0"/>
                </a:solidFill>
              </a:rPr>
              <a:t> Fonte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(System.in);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x, y,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(“Num 1:?”); x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(“Num 2:?”); y =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nextDouble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)/2;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(“Média: “ +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sc.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();}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9648371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Arrays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usados ​​para armazenar vários valores em uma única variável, em vez de declarar variáveis ​​separadas para cada valor.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String[]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cars = {“Fiat", “Citroen", "Ford", “Gol"};</a:t>
            </a:r>
          </a:p>
          <a:p>
            <a:pPr marL="0" indent="0" algn="just">
              <a:buNone/>
            </a:pPr>
            <a:r>
              <a:rPr lang="sv-SE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int[]</a:t>
            </a:r>
            <a:r>
              <a:rPr lang="sv-SE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 = {17, 12, 45, 29};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carros; //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carros.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78922790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Estrutura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Seleção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{instruções}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{instruções}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{instruções}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Múltipla Escolha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switch(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instruções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;break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default: {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instruções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2060741877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Operador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Ternário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1"/>
            <a:ext cx="8865056" cy="401067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 ternário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é um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 condicional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normalmente utilizado como atalho para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Pode deixar o código mais limpo.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// método principal -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psvm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hora = 11;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hora &gt; 12 ? "boa tarde“ : "bom dia"; //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}	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0328388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Estrutura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Repetição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(var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fim) { instruções }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arrayObjConjunto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instruções } //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 instruções }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instruções }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break/continue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62520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Funções</a:t>
            </a:r>
            <a:r>
              <a:rPr lang="en-US" b="1" dirty="0">
                <a:solidFill>
                  <a:srgbClr val="0070C0"/>
                </a:solidFill>
              </a:rPr>
              <a:t> Math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Bloco de código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auxiliam executam tarefas.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classe Java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 muitos métodos que permitem realizar tarefas matemáticas em números.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randomNum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* 101);  // 0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527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Funções</a:t>
            </a:r>
            <a:r>
              <a:rPr lang="en-US" b="1" dirty="0">
                <a:solidFill>
                  <a:srgbClr val="0070C0"/>
                </a:solidFill>
              </a:rPr>
              <a:t> String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texto.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toUpperCase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texto.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texto.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texto.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(“texto”)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98072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Funções</a:t>
            </a:r>
            <a:r>
              <a:rPr lang="en-US" b="1" dirty="0">
                <a:solidFill>
                  <a:srgbClr val="0070C0"/>
                </a:solidFill>
              </a:rPr>
              <a:t> Date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java.time.LocalDate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java.time.LocalTime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java.time.LocalDateTime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java.time.format.DateTimeFormatter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LocalDate.now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LocalTime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LocalTime.now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LocalDateTime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myObj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LocalDateTime.now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62461651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Funções</a:t>
            </a:r>
            <a:r>
              <a:rPr lang="en-US" b="1" dirty="0">
                <a:solidFill>
                  <a:srgbClr val="0070C0"/>
                </a:solidFill>
              </a:rPr>
              <a:t> Date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java.time.LocalDateTime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java.time.format.DateTimeFormatter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LocalDateTime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myDateObj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LocalDateTime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.now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("Before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 +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myDateObj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DateTimeFormatterv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myFormatObj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DateTimeFormatter.ofPattern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-MM-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HH:mm:ss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formattedDate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myDateObj.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myFormatObj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" +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formattedDate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}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7596919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</a:t>
            </a:r>
            <a:r>
              <a:rPr lang="en-US" b="1" dirty="0" err="1">
                <a:solidFill>
                  <a:srgbClr val="0070C0"/>
                </a:solidFill>
              </a:rPr>
              <a:t>Bibliotecas</a:t>
            </a:r>
            <a:r>
              <a:rPr lang="en-US" b="1" dirty="0">
                <a:solidFill>
                  <a:srgbClr val="0070C0"/>
                </a:solidFill>
              </a:rPr>
              <a:t> Import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java.time.LocalDateTime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java.time.format.DateTimeFormatter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java.applet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java.math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java.net;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javax.sound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java.awt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javax.swing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2.0;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bstract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indow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oolkit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javax.media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javaFx.fxml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já vem no pacote de instalação</a:t>
            </a:r>
          </a:p>
        </p:txBody>
      </p:sp>
    </p:spTree>
    <p:extLst>
      <p:ext uri="{BB962C8B-B14F-4D97-AF65-F5344CB8AC3E}">
        <p14:creationId xmlns:p14="http://schemas.microsoft.com/office/powerpoint/2010/main" val="3784588421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OO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modelo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variáveis da classe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ações da classe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instanciação da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herança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herança</a:t>
            </a:r>
          </a:p>
          <a:p>
            <a:pPr marL="0" indent="0" algn="just">
              <a:buNone/>
            </a:pP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interface</a:t>
            </a:r>
            <a:endParaRPr lang="pt-B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encapsulamento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objeto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(modificadores: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polimorfismo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objeto que assume várias formas (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516358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Domínio</a:t>
            </a:r>
            <a:r>
              <a:rPr lang="en-US" b="1" dirty="0">
                <a:solidFill>
                  <a:srgbClr val="0070C0"/>
                </a:solidFill>
              </a:rPr>
              <a:t> / </a:t>
            </a:r>
            <a:r>
              <a:rPr lang="en-US" b="1" dirty="0" err="1">
                <a:solidFill>
                  <a:srgbClr val="0070C0"/>
                </a:solidFill>
              </a:rPr>
              <a:t>Modelo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Domínio</a:t>
            </a:r>
            <a:r>
              <a:rPr lang="en-US" b="1" dirty="0">
                <a:solidFill>
                  <a:srgbClr val="0070C0"/>
                </a:solidFill>
              </a:rPr>
              <a:t> OO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domínio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área de negócio, ex.: acadêmico, financeiro,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 de domínio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descreve as entidades de domínio e suas relações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995EFEE-87DB-92E8-AD3A-63EA91FF9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727173"/>
              </p:ext>
            </p:extLst>
          </p:nvPr>
        </p:nvGraphicFramePr>
        <p:xfrm>
          <a:off x="363255" y="2105504"/>
          <a:ext cx="1503123" cy="1198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03123">
                  <a:extLst>
                    <a:ext uri="{9D8B030D-6E8A-4147-A177-3AD203B41FA5}">
                      <a16:colId xmlns:a16="http://schemas.microsoft.com/office/drawing/2014/main" val="185310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Pedido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err="1"/>
                        <a:t>Int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Id       (PK)</a:t>
                      </a:r>
                    </a:p>
                    <a:p>
                      <a:pPr algn="l"/>
                      <a:r>
                        <a:rPr lang="pt-BR" dirty="0"/>
                        <a:t>Date </a:t>
                      </a:r>
                      <a:r>
                        <a:rPr lang="pt-BR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+ Double </a:t>
                      </a:r>
                      <a:r>
                        <a:rPr lang="pt-BR" b="1" dirty="0" err="1"/>
                        <a:t>vlTotal</a:t>
                      </a:r>
                      <a:r>
                        <a:rPr lang="pt-BR" b="1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958660"/>
                  </a:ext>
                </a:extLst>
              </a:tr>
            </a:tbl>
          </a:graphicData>
        </a:graphic>
      </p:graphicFrame>
      <p:graphicFrame>
        <p:nvGraphicFramePr>
          <p:cNvPr id="5" name="Tabela 2">
            <a:extLst>
              <a:ext uri="{FF2B5EF4-FFF2-40B4-BE49-F238E27FC236}">
                <a16:creationId xmlns:a16="http://schemas.microsoft.com/office/drawing/2014/main" id="{FB88913D-DCAA-8942-987B-730933527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967165"/>
              </p:ext>
            </p:extLst>
          </p:nvPr>
        </p:nvGraphicFramePr>
        <p:xfrm>
          <a:off x="6256751" y="2105504"/>
          <a:ext cx="1409178" cy="1381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09178">
                  <a:extLst>
                    <a:ext uri="{9D8B030D-6E8A-4147-A177-3AD203B41FA5}">
                      <a16:colId xmlns:a16="http://schemas.microsoft.com/office/drawing/2014/main" val="185310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err="1"/>
                        <a:t>Int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Id   (PK)</a:t>
                      </a:r>
                    </a:p>
                    <a:p>
                      <a:pPr algn="l"/>
                      <a:r>
                        <a:rPr lang="pt-BR" dirty="0" err="1"/>
                        <a:t>String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nome</a:t>
                      </a:r>
                    </a:p>
                    <a:p>
                      <a:pPr algn="l"/>
                      <a:r>
                        <a:rPr lang="pt-BR" b="1" dirty="0"/>
                        <a:t>Double </a:t>
                      </a:r>
                      <a:r>
                        <a:rPr lang="pt-BR" b="1" dirty="0" err="1"/>
                        <a:t>preco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958660"/>
                  </a:ext>
                </a:extLst>
              </a:tr>
            </a:tbl>
          </a:graphicData>
        </a:graphic>
      </p:graphicFrame>
      <p:graphicFrame>
        <p:nvGraphicFramePr>
          <p:cNvPr id="7" name="Tabela 2">
            <a:extLst>
              <a:ext uri="{FF2B5EF4-FFF2-40B4-BE49-F238E27FC236}">
                <a16:creationId xmlns:a16="http://schemas.microsoft.com/office/drawing/2014/main" id="{67DA6D52-25A9-B70D-EA3A-D17153FCB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918157"/>
              </p:ext>
            </p:extLst>
          </p:nvPr>
        </p:nvGraphicFramePr>
        <p:xfrm>
          <a:off x="3306871" y="3415308"/>
          <a:ext cx="1607888" cy="1381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07888">
                  <a:extLst>
                    <a:ext uri="{9D8B030D-6E8A-4147-A177-3AD203B41FA5}">
                      <a16:colId xmlns:a16="http://schemas.microsoft.com/office/drawing/2014/main" val="1853100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ItemPedido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dirty="0" err="1"/>
                        <a:t>Int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quantidade</a:t>
                      </a:r>
                    </a:p>
                    <a:p>
                      <a:pPr algn="l"/>
                      <a:r>
                        <a:rPr lang="pt-BR" dirty="0"/>
                        <a:t>Double </a:t>
                      </a:r>
                      <a:r>
                        <a:rPr lang="pt-BR" b="1" dirty="0"/>
                        <a:t>desconto</a:t>
                      </a:r>
                    </a:p>
                    <a:p>
                      <a:pPr algn="l"/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b="1" dirty="0"/>
                        <a:t>+ Double subtotal()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958660"/>
                  </a:ext>
                </a:extLst>
              </a:tr>
            </a:tbl>
          </a:graphicData>
        </a:graphic>
      </p:graphicFrame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02ED0ED-C162-45B5-B599-E1743BF3A45F}"/>
              </a:ext>
            </a:extLst>
          </p:cNvPr>
          <p:cNvCxnSpPr/>
          <p:nvPr/>
        </p:nvCxnSpPr>
        <p:spPr>
          <a:xfrm>
            <a:off x="1866378" y="2704944"/>
            <a:ext cx="439037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8729D3-345A-1CC8-9AC9-52A8FF417E4C}"/>
              </a:ext>
            </a:extLst>
          </p:cNvPr>
          <p:cNvSpPr txBox="1"/>
          <p:nvPr/>
        </p:nvSpPr>
        <p:spPr>
          <a:xfrm>
            <a:off x="1972849" y="2150057"/>
            <a:ext cx="1020869" cy="64632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 Pedidos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pt-BR" b="1" dirty="0">
                <a:solidFill>
                  <a:srgbClr val="FF0000"/>
                </a:solidFill>
              </a:rPr>
              <a:t>0..*</a:t>
            </a:r>
            <a:endParaRPr kumimoji="0" lang="pt-BR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ED5585-A821-481B-A8CA-43831F85B06F}"/>
              </a:ext>
            </a:extLst>
          </p:cNvPr>
          <p:cNvSpPr txBox="1"/>
          <p:nvPr/>
        </p:nvSpPr>
        <p:spPr>
          <a:xfrm>
            <a:off x="5033185" y="2105504"/>
            <a:ext cx="1117094" cy="64632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 Produtos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pt-BR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1..*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BCBF70A-183A-4865-EE6A-4B21DAED2B48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110815" y="2704944"/>
            <a:ext cx="0" cy="71036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846345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Níveis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Abstração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Modelo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Domínio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49629"/>
            <a:ext cx="8865056" cy="409835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ela 10">
            <a:extLst>
              <a:ext uri="{FF2B5EF4-FFF2-40B4-BE49-F238E27FC236}">
                <a16:creationId xmlns:a16="http://schemas.microsoft.com/office/drawing/2014/main" id="{131489CA-B868-FCA1-B161-0631B64B0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123540"/>
              </p:ext>
            </p:extLst>
          </p:nvPr>
        </p:nvGraphicFramePr>
        <p:xfrm>
          <a:off x="183713" y="949016"/>
          <a:ext cx="8767318" cy="36626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920660">
                  <a:extLst>
                    <a:ext uri="{9D8B030D-6E8A-4147-A177-3AD203B41FA5}">
                      <a16:colId xmlns:a16="http://schemas.microsoft.com/office/drawing/2014/main" val="3758479011"/>
                    </a:ext>
                  </a:extLst>
                </a:gridCol>
                <a:gridCol w="1929008">
                  <a:extLst>
                    <a:ext uri="{9D8B030D-6E8A-4147-A177-3AD203B41FA5}">
                      <a16:colId xmlns:a16="http://schemas.microsoft.com/office/drawing/2014/main" val="480166921"/>
                    </a:ext>
                  </a:extLst>
                </a:gridCol>
                <a:gridCol w="3595520">
                  <a:extLst>
                    <a:ext uri="{9D8B030D-6E8A-4147-A177-3AD203B41FA5}">
                      <a16:colId xmlns:a16="http://schemas.microsoft.com/office/drawing/2014/main" val="2779268690"/>
                    </a:ext>
                  </a:extLst>
                </a:gridCol>
                <a:gridCol w="1322130">
                  <a:extLst>
                    <a:ext uri="{9D8B030D-6E8A-4147-A177-3AD203B41FA5}">
                      <a16:colId xmlns:a16="http://schemas.microsoft.com/office/drawing/2014/main" val="1187133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Responsável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79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Conceitual ou de Análise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Analista de Sistemas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Entidades/Relações</a:t>
                      </a:r>
                    </a:p>
                    <a:p>
                      <a:pPr algn="l"/>
                      <a:r>
                        <a:rPr lang="pt-BR" sz="1800" dirty="0"/>
                        <a:t>Independente de Tecnologia e Paradigma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DER/MER</a:t>
                      </a:r>
                    </a:p>
                    <a:p>
                      <a:pPr algn="l"/>
                      <a:r>
                        <a:rPr lang="pt-BR" sz="1800" dirty="0"/>
                        <a:t>Diagrama de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727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Lógico ou de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Projetista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Entidades/Relações</a:t>
                      </a:r>
                    </a:p>
                    <a:p>
                      <a:pPr algn="l"/>
                      <a:r>
                        <a:rPr lang="pt-BR" sz="1800" dirty="0"/>
                        <a:t>Independente de Tecnologia e PRESO AO Paradigma</a:t>
                      </a:r>
                    </a:p>
                    <a:p>
                      <a:pPr algn="l"/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MR</a:t>
                      </a:r>
                    </a:p>
                    <a:p>
                      <a:pPr algn="l"/>
                      <a:r>
                        <a:rPr lang="pt-BR" sz="1800" dirty="0"/>
                        <a:t>Diagrama de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7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Físico ou de Implementação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Desenvolvedor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Entidades/Relações</a:t>
                      </a:r>
                    </a:p>
                    <a:p>
                      <a:pPr algn="l"/>
                      <a:r>
                        <a:rPr lang="pt-BR" sz="1800" dirty="0"/>
                        <a:t>PRESO a Tecnologia e Paradigma</a:t>
                      </a:r>
                    </a:p>
                    <a:p>
                      <a:pPr algn="l"/>
                      <a:endParaRPr lang="pt-B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SQL (DDL)</a:t>
                      </a:r>
                    </a:p>
                    <a:p>
                      <a:pPr algn="l"/>
                      <a:r>
                        <a:rPr lang="pt-BR" sz="1800" dirty="0"/>
                        <a:t>C#, Java, PHP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41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766319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Swing GUI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Criar projeto: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Project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Java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Java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 Desmarcar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classe principal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Criar a classe: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File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 GUI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 No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modo Design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2.2.1.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Palette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Incluir um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um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2.2.1.1. Botão direito em cima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.setText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Olá Mundo!!!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	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588701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JAVAFX GUI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Necessário adicionar 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IDE.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https://www.eclipse.org/downloads/packages/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Eclipse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Tools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-&gt;Library-&gt;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Library(Pasta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pasta criada -&gt;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JAR/Folder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(apontar para a pasta aonde encontra-se 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Atenção: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partir do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 JDK 11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não vem incluído. É necessário baixar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separadamente e adicioná-lo ao projeto como se fosse uma biblioteca comum.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 ser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pelo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5025743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JAVAFX GUI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um projeto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Java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1.1. Nome projeto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OlaMundoFX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Botão direito do mouse no projeto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OlaMundoFX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opção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pt-BR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Em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Menu Compile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clicar em adicionar(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clicar em adicionar(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Library,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137976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 – JAVAFX GUI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Criar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FXML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FXML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OlaMundoFX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-&gt; Marcar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Use Java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manter default,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Criar a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OlaMundoFX.java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projeto: (propriedades do projeto -&gt;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VM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module-path "C:\java-libs\javafx-sdk-18.0.1\lib“</a:t>
            </a: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-modules=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javafx.controls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javafx.fxml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971947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https://docs.oracle.com/en/java/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https://www.w3schools.com/java/default.asp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https://docs.oracle.com/javase/8/docs/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https://www.youtube.com/watch?v=WMee8zOw_FQ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https://www.portalgsti.com.br/2016/10/curso-gratuito-java-pela-xti.html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https://www.beecrowd.com.br/judge/pt/categories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 em Sala de Aula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 Online Judge –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beecrowd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https://www.beecrowd.com.br/judge/en/problems/view/1078?origem=1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https://www.beecrowd.com.br/judge/en/problems/view/1094?origem=1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Quiz JAVA</a:t>
            </a:r>
          </a:p>
          <a:p>
            <a:pPr marL="0" indent="0" algn="just">
              <a:buNone/>
            </a:pP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https://www.w3schools.com/java/java_quiz.asp</a:t>
            </a:r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INDRUSIAK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Leandro Soares. Linguagem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Grupo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JavaRS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 Rio Grande do Sul, p. 19, 1996.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LUCKOW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Décio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Heinzelmann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DE MELO, Alexandre Altair. Programação Java para a WEB.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2010.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10675</TotalTime>
  <Words>5367</Words>
  <Application>Microsoft Office PowerPoint</Application>
  <PresentationFormat>Apresentação na tela (16:9)</PresentationFormat>
  <Paragraphs>659</Paragraphs>
  <Slides>73</Slides>
  <Notes>70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79" baseType="lpstr">
      <vt:lpstr>Arial</vt:lpstr>
      <vt:lpstr>Arial</vt:lpstr>
      <vt:lpstr>Calibri</vt:lpstr>
      <vt:lpstr>Times New Roman</vt:lpstr>
      <vt:lpstr>Wingdings</vt:lpstr>
      <vt:lpstr>Office Theme</vt:lpstr>
      <vt:lpstr>Desenvolvimento de Software  JAVA</vt:lpstr>
      <vt:lpstr>Aulas 12 JAVA – Técnicas de Programação</vt:lpstr>
      <vt:lpstr>VSCode – IDE HTML/CSS/JS/JQUERY</vt:lpstr>
      <vt:lpstr>Versionamento – Terminal Root</vt:lpstr>
      <vt:lpstr>Comandos GIT – Terminal Root</vt:lpstr>
      <vt:lpstr>Comandos GIT – Terminal Root</vt:lpstr>
      <vt:lpstr>Comandos GIT – Terminal Root</vt:lpstr>
      <vt:lpstr>JAVA – Histórico</vt:lpstr>
      <vt:lpstr>JAVA – Histórico</vt:lpstr>
      <vt:lpstr>JAVA – Exemplos de Aplicação</vt:lpstr>
      <vt:lpstr>JAVA – Características</vt:lpstr>
      <vt:lpstr>JAVA – Características</vt:lpstr>
      <vt:lpstr>JAVA – Características</vt:lpstr>
      <vt:lpstr>JAVA – Características</vt:lpstr>
      <vt:lpstr>JAVA – Características</vt:lpstr>
      <vt:lpstr>JAVA – Características</vt:lpstr>
      <vt:lpstr>JAVA – Links JDK</vt:lpstr>
      <vt:lpstr>JAVA – IDE/Tools</vt:lpstr>
      <vt:lpstr>JAVA EE – Instalação Dev Web JDK</vt:lpstr>
      <vt:lpstr>JAVA – Instalação Dev Web IDE</vt:lpstr>
      <vt:lpstr>JAVA –Projeto Web STS Spring Boot</vt:lpstr>
      <vt:lpstr>JAVA –Projeto Web STS Spring Boot</vt:lpstr>
      <vt:lpstr>JAVA –Projeto Web STS Spring Boot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Classes/Objeto/Atributo/Met.</vt:lpstr>
      <vt:lpstr>JAVA – Comentário</vt:lpstr>
      <vt:lpstr>JAVA – Saída de Dados</vt:lpstr>
      <vt:lpstr>JAVA – Operadores</vt:lpstr>
      <vt:lpstr>JAVA – Estrutura do Programa</vt:lpstr>
      <vt:lpstr>JAVA – Entrada de Dados</vt:lpstr>
      <vt:lpstr>JAVA – Tipos de Dados Primitivos</vt:lpstr>
      <vt:lpstr>JAVA – Tipos de Dados Primitivos</vt:lpstr>
      <vt:lpstr>JAVA – Variáveis/Constante</vt:lpstr>
      <vt:lpstr>JAVA – Exemplo Fonte</vt:lpstr>
      <vt:lpstr>JAVA – Arrays</vt:lpstr>
      <vt:lpstr>JAVA – Estrutura de Seleção</vt:lpstr>
      <vt:lpstr>JAVA – Operador Ternário</vt:lpstr>
      <vt:lpstr>JAVA – Estrutura de Repetição</vt:lpstr>
      <vt:lpstr>JAVA – Funções Math</vt:lpstr>
      <vt:lpstr>JAVA – Funções String</vt:lpstr>
      <vt:lpstr>JAVA – Funções Date</vt:lpstr>
      <vt:lpstr>JAVA – Funções Date</vt:lpstr>
      <vt:lpstr>JAVA – Bibliotecas Import</vt:lpstr>
      <vt:lpstr>JAVA – OO</vt:lpstr>
      <vt:lpstr>Domínio / Modelo de Domínio OO</vt:lpstr>
      <vt:lpstr>Níveis de Abstração Modelo Domínio</vt:lpstr>
      <vt:lpstr>JAVA – Swing GUI</vt:lpstr>
      <vt:lpstr>JAVA – JAVAFX GUI</vt:lpstr>
      <vt:lpstr>JAVA – JAVAFX GUI</vt:lpstr>
      <vt:lpstr>JAVA – JAVAFX GUI</vt:lpstr>
      <vt:lpstr>Leitura Específica</vt:lpstr>
      <vt:lpstr>Aprenda+</vt:lpstr>
      <vt:lpstr>Dinâmica/Atividades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1677</cp:revision>
  <dcterms:created xsi:type="dcterms:W3CDTF">2020-03-17T20:12:34Z</dcterms:created>
  <dcterms:modified xsi:type="dcterms:W3CDTF">2024-03-07T16:06:03Z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