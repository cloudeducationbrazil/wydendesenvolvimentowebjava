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91" r:id="rId3"/>
    <p:sldId id="402" r:id="rId4"/>
    <p:sldId id="403" r:id="rId5"/>
    <p:sldId id="404" r:id="rId6"/>
    <p:sldId id="405" r:id="rId7"/>
    <p:sldId id="406" r:id="rId8"/>
    <p:sldId id="407" r:id="rId9"/>
    <p:sldId id="408" r:id="rId10"/>
    <p:sldId id="409" r:id="rId11"/>
    <p:sldId id="411" r:id="rId12"/>
    <p:sldId id="410" r:id="rId13"/>
    <p:sldId id="333" r:id="rId14"/>
    <p:sldId id="323" r:id="rId15"/>
    <p:sldId id="334" r:id="rId16"/>
    <p:sldId id="337" r:id="rId17"/>
    <p:sldId id="309" r:id="rId18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76" autoAdjust="0"/>
    <p:restoredTop sz="83649" autoAdjust="0"/>
  </p:normalViewPr>
  <p:slideViewPr>
    <p:cSldViewPr snapToGrid="0">
      <p:cViewPr varScale="1">
        <p:scale>
          <a:sx n="76" d="100"/>
          <a:sy n="76" d="100"/>
        </p:scale>
        <p:origin x="804" y="78"/>
      </p:cViewPr>
      <p:guideLst>
        <p:guide orient="horz" pos="15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94"/>
    </p:cViewPr>
  </p:sorterViewPr>
  <p:notesViewPr>
    <p:cSldViewPr snapToGrid="0"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25259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2977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45666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2427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7260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26912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60211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74382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49910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01832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878300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53043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95695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62490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035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85802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2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3" y="2180035"/>
            <a:ext cx="7772402" cy="112514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1" y="1200151"/>
            <a:ext cx="4038601" cy="339447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48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8" y="1151334"/>
            <a:ext cx="4041774" cy="47982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1792289" y="3600450"/>
            <a:ext cx="5486402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289" y="459581"/>
            <a:ext cx="5486402" cy="3086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9" y="4025503"/>
            <a:ext cx="5486402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8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629399" y="205980"/>
            <a:ext cx="2057401" cy="4388645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205980"/>
            <a:ext cx="6019801" cy="438864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0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Texto do Título</a:t>
            </a:r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8342803" y="4765688"/>
            <a:ext cx="344000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‹nº›</a:t>
            </a:fld>
            <a:endParaRPr/>
          </a:p>
        </p:txBody>
      </p:sp>
      <p:pic>
        <p:nvPicPr>
          <p:cNvPr id="5" name="Picture 5" descr="Picture 5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Picture 6" descr="Picture 6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6649752" y="4972050"/>
            <a:ext cx="2494252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Imagem" descr="Imagem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051528" y="4341020"/>
            <a:ext cx="1690697" cy="54544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revistas.unifenas.br/index.php/RE3C/article/view/54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sol.sbc.org.br/index.php/sbsi/article/view/5938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9zEeRc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bit.ly/3acxo4t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Desenvolvimento de Software </a:t>
            </a:r>
            <a:br>
              <a:rPr lang="pt-BR" sz="4800" b="1">
                <a:solidFill>
                  <a:schemeClr val="bg1"/>
                </a:solidFill>
              </a:rPr>
            </a:br>
            <a:r>
              <a:rPr lang="pt-BR" sz="4800" b="1">
                <a:solidFill>
                  <a:schemeClr val="bg1"/>
                </a:solidFill>
              </a:rPr>
              <a:t>JAVA </a:t>
            </a:r>
            <a:endParaRPr lang="pt-BR" sz="4800" b="1" dirty="0">
              <a:solidFill>
                <a:schemeClr val="bg1"/>
              </a:solidFill>
            </a:endParaRP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348258" y="2277667"/>
            <a:ext cx="8681444" cy="1102519"/>
          </a:xfrm>
        </p:spPr>
        <p:txBody>
          <a:bodyPr>
            <a:noAutofit/>
          </a:bodyPr>
          <a:lstStyle/>
          <a:p>
            <a:pPr algn="l"/>
            <a:r>
              <a:rPr lang="pt-BR" b="1" dirty="0">
                <a:solidFill>
                  <a:schemeClr val="bg1"/>
                </a:solidFill>
              </a:rPr>
              <a:t>Aulas CGI/SERVLETS; DAO/MVC</a:t>
            </a:r>
            <a:endParaRPr lang="pt-BR" sz="4800" b="1" dirty="0">
              <a:solidFill>
                <a:schemeClr val="bg1"/>
              </a:solidFill>
            </a:endParaRP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CGI/SERVLETS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CGI e o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são os programas que residem no servidor da web ou do aplicativo.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Auxiliam na comunicação entre o servidor da web e o navegador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lado do cliente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para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gerar o conteúdo da web dinamicamente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0841016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CGI/SERVLETS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CGI e o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podem ser diferenciados porque funcionam de maneiras diferentes e possuem funcionalidades e recursos distintos. 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 programas CGI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Gateway Interface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podem ser projetados no sistema operacional nativo e mantidos em um diretório específico. 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 outro lado, o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um componente da web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 geralmente é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escrito em Java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executado em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JVM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875255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78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CGI/SERVLETS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A7E1D65B-C5D5-9B8C-9BDC-4D6D928A4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45220"/>
              </p:ext>
            </p:extLst>
          </p:nvPr>
        </p:nvGraphicFramePr>
        <p:xfrm>
          <a:off x="142865" y="723900"/>
          <a:ext cx="6816735" cy="4395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0395">
                  <a:extLst>
                    <a:ext uri="{9D8B030D-6E8A-4147-A177-3AD203B41FA5}">
                      <a16:colId xmlns:a16="http://schemas.microsoft.com/office/drawing/2014/main" val="542220703"/>
                    </a:ext>
                  </a:extLst>
                </a:gridCol>
                <a:gridCol w="2438717">
                  <a:extLst>
                    <a:ext uri="{9D8B030D-6E8A-4147-A177-3AD203B41FA5}">
                      <a16:colId xmlns:a16="http://schemas.microsoft.com/office/drawing/2014/main" val="536404029"/>
                    </a:ext>
                  </a:extLst>
                </a:gridCol>
                <a:gridCol w="2597623">
                  <a:extLst>
                    <a:ext uri="{9D8B030D-6E8A-4147-A177-3AD203B41FA5}">
                      <a16:colId xmlns:a16="http://schemas.microsoft.com/office/drawing/2014/main" val="1190264760"/>
                    </a:ext>
                  </a:extLst>
                </a:gridCol>
              </a:tblGrid>
              <a:tr h="22116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para comparação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1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CGI</a:t>
                      </a:r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1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Servlet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10" marB="0" anchor="b"/>
                </a:tc>
                <a:extLst>
                  <a:ext uri="{0D108BD9-81ED-4DB2-BD59-A6C34878D82A}">
                    <a16:rowId xmlns:a16="http://schemas.microsoft.com/office/drawing/2014/main" val="970523339"/>
                  </a:ext>
                </a:extLst>
              </a:tr>
              <a:tr h="581343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097" marB="78097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Programas são escritos no sistema operacional nativo.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097" marB="78097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Programas empregados usando Java.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097" marB="78097" anchor="b"/>
                </a:tc>
                <a:extLst>
                  <a:ext uri="{0D108BD9-81ED-4DB2-BD59-A6C34878D82A}">
                    <a16:rowId xmlns:a16="http://schemas.microsoft.com/office/drawing/2014/main" val="4111599548"/>
                  </a:ext>
                </a:extLst>
              </a:tr>
              <a:tr h="330836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Dependência de Plataforma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097" marB="78097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Dependente da plataforma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097" marB="78097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Não confia na plataforma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097" marB="78097" anchor="b"/>
                </a:tc>
                <a:extLst>
                  <a:ext uri="{0D108BD9-81ED-4DB2-BD59-A6C34878D82A}">
                    <a16:rowId xmlns:a16="http://schemas.microsoft.com/office/drawing/2014/main" val="2141737420"/>
                  </a:ext>
                </a:extLst>
              </a:tr>
              <a:tr h="513766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Criação de processo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097" marB="78097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Cada solicitação do cliente cria seu próprio processo.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097" marB="78097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 processos são criados dependendo do tipo de solicitação do cliente.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097" marB="78097" anchor="b"/>
                </a:tc>
                <a:extLst>
                  <a:ext uri="{0D108BD9-81ED-4DB2-BD59-A6C34878D82A}">
                    <a16:rowId xmlns:a16="http://schemas.microsoft.com/office/drawing/2014/main" val="850579380"/>
                  </a:ext>
                </a:extLst>
              </a:tr>
              <a:tr h="485521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Conversão do roteiro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097" marB="78097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Presente na forma de executáveis ​​(nativo para o sistema operacional do servidor).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097" marB="78097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Compilado para Java Bytecode.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097" marB="78097" anchor="b"/>
                </a:tc>
                <a:extLst>
                  <a:ext uri="{0D108BD9-81ED-4DB2-BD59-A6C34878D82A}">
                    <a16:rowId xmlns:a16="http://schemas.microsoft.com/office/drawing/2014/main" val="2286386187"/>
                  </a:ext>
                </a:extLst>
              </a:tr>
              <a:tr h="373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 em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097" marB="78097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Processo separado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097" marB="78097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JVM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097" marB="78097" anchor="b"/>
                </a:tc>
                <a:extLst>
                  <a:ext uri="{0D108BD9-81ED-4DB2-BD59-A6C34878D82A}">
                    <a16:rowId xmlns:a16="http://schemas.microsoft.com/office/drawing/2014/main" val="780284900"/>
                  </a:ext>
                </a:extLst>
              </a:tr>
              <a:tr h="395985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Segurança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097" marB="78097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Mais vulnerável a ataques.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097" marB="78097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Pode resistir a ataques.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097" marB="78097" anchor="b"/>
                </a:tc>
                <a:extLst>
                  <a:ext uri="{0D108BD9-81ED-4DB2-BD59-A6C34878D82A}">
                    <a16:rowId xmlns:a16="http://schemas.microsoft.com/office/drawing/2014/main" val="277720894"/>
                  </a:ext>
                </a:extLst>
              </a:tr>
              <a:tr h="395985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Rapidez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097" marB="78097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Mais devagar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097" marB="78097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Mais rápido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097" marB="78097" anchor="b"/>
                </a:tc>
                <a:extLst>
                  <a:ext uri="{0D108BD9-81ED-4DB2-BD59-A6C34878D82A}">
                    <a16:rowId xmlns:a16="http://schemas.microsoft.com/office/drawing/2014/main" val="3322705123"/>
                  </a:ext>
                </a:extLst>
              </a:tr>
              <a:tr h="485521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Processamento de script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097" marB="78097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Direto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097" marB="78097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Antes de executar os scripts, ele é traduzido e compilado.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097" marB="78097" anchor="b"/>
                </a:tc>
                <a:extLst>
                  <a:ext uri="{0D108BD9-81ED-4DB2-BD59-A6C34878D82A}">
                    <a16:rowId xmlns:a16="http://schemas.microsoft.com/office/drawing/2014/main" val="3428476728"/>
                  </a:ext>
                </a:extLst>
              </a:tr>
              <a:tr h="330836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Portabilidade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097" marB="78097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Não pode ser portado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097" marB="78097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Portátil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0" marR="7810" marT="78097" marB="78097" anchor="b"/>
                </a:tc>
                <a:extLst>
                  <a:ext uri="{0D108BD9-81ED-4DB2-BD59-A6C34878D82A}">
                    <a16:rowId xmlns:a16="http://schemas.microsoft.com/office/drawing/2014/main" val="1224930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456489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DAO/MVC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São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componentes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 integram 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arquitetura de software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Serviços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os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métodos de acesso</a:t>
            </a:r>
            <a:r>
              <a:rPr lang="pt-B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DAO,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formam camadas em qualquer aplicativo de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camadas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aplicativo com estilo arquitetural padrão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MVC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composto de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Serviços e DAO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723944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DAO/MVC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camada de serviço</a:t>
            </a:r>
            <a:r>
              <a:rPr lang="pt-B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 um termo genérico que basicamente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atua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como um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ponto de entrada para o domínio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aplicativo e normalmente inclui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lógica de negócios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aplicativo Web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sua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camada de lógica de negócios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tratada como uma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camada de serviço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assim com, nos app móveis, através da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 REST.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8513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DAO/MVC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camada DAO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composta de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 abstraem o mecanismo de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armazenamento de dados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Já o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MVC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um estilo arquitetural, em que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e C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são "estritamente" da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camada de apresentação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pode incluir tudo o que está além da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apresentação (GUI)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DTO,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é um objeto, que serve para manipular e transferir dados. </a:t>
            </a:r>
          </a:p>
        </p:txBody>
      </p:sp>
    </p:spTree>
    <p:extLst>
      <p:ext uri="{BB962C8B-B14F-4D97-AF65-F5344CB8AC3E}">
        <p14:creationId xmlns:p14="http://schemas.microsoft.com/office/powerpoint/2010/main" val="24885747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DAO/MVC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estilo arquitetural,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Model-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significa "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do usuário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". 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Já o componente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um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componente do lado do servidor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 aceita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solicitações de clientes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atualiza o Modelo adequadamente</a:t>
            </a:r>
            <a:r>
              <a:rPr lang="pt-B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envia os resultados de volta,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os </a:t>
            </a:r>
            <a:r>
              <a:rPr lang="pt-BR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clientes </a:t>
            </a:r>
            <a:r>
              <a:rPr lang="pt-BR" sz="24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3453516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DAO/MVC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Service/DAO,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estende essas camadas para 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lado do servidor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controlador da web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possui várias instâncias de serviço que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atualizam o modelo para atender às solicitações de cliente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Serviços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usarão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objetos Modelo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atender a solicitações de cliente e persistir os dados em um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banco de dados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usando a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camada de acesso a dados(DAO)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958934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DAO/MVC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ViewModels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(Includes business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Uses data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interfaces)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DAO: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Access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(interfaces) for persistente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Interface de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implementations</a:t>
            </a:r>
            <a:r>
              <a:rPr lang="pt-BR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(representação do domínio -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POCO/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POJO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DTO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/PDS/POD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98297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DAO/MVC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Data Access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camada,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são fortemente integradas. Elas são implementadas para 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comunicação entre os clientes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o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-end.</a:t>
            </a:r>
          </a:p>
          <a:p>
            <a:pPr marL="0" indent="0" algn="just">
              <a:buNone/>
            </a:pP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Model: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Regras de negócio; Entidades; DAO</a:t>
            </a: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Renderizar a resposta: HMLT/CSS/JS/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Fluxo da Aplicação</a:t>
            </a: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08387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Leitura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Específica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12261"/>
            <a:ext cx="8865056" cy="383531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Disponível em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https://revistas.unifenas.br/index.php/RE3C/article/view/54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Disponível em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https://sol.sbc.org.br/index.php/sbsi/article/view/5938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27042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Aprenda</a:t>
            </a:r>
            <a:r>
              <a:rPr lang="en-US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https://bit.ly/39zEeRc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https://bit.ly/3acxo4t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59696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Dinâmica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Atividades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606305"/>
          </a:xfrm>
        </p:spPr>
        <p:txBody>
          <a:bodyPr>
            <a:noAutofit/>
          </a:bodyPr>
          <a:lstStyle/>
          <a:p>
            <a:pPr algn="just">
              <a:buFontTx/>
              <a:buChar char="-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Exercícios de Fixação 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pPr marL="0" indent="0" algn="just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Desafio em Sala de Aula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0" indent="0" algn="just">
              <a:buNone/>
            </a:pPr>
            <a:endParaRPr lang="pt-BR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65298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LUCIANO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Josué; ALVES,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Wallison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Joel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Barberá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Padrão de arquitetura MVC: Model-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EPeQ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Fafibe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1, n. 3a, p. 102-107, 2017.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DURELLI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Vinícius HS; VIANA, Matheus C.; PENTEADO, Rosângela AD. Uma proposta de reuso de interface gráfica com o usuário baseada no padrão arquitetural MVC. In: Anais do IV Simpósio Brasileiro de Sistemas de Informação. SBC, 2008. p. 48-59.</a:t>
            </a:r>
          </a:p>
        </p:txBody>
      </p:sp>
    </p:spTree>
    <p:extLst>
      <p:ext uri="{BB962C8B-B14F-4D97-AF65-F5344CB8AC3E}">
        <p14:creationId xmlns:p14="http://schemas.microsoft.com/office/powerpoint/2010/main" val="111531184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Desenvolvimento de Software </a:t>
            </a:r>
            <a:br>
              <a:rPr lang="pt-BR" sz="4800" b="1" dirty="0">
                <a:solidFill>
                  <a:schemeClr val="bg1"/>
                </a:solidFill>
              </a:rPr>
            </a:br>
            <a:r>
              <a:rPr lang="pt-BR" sz="4800" b="1" dirty="0">
                <a:solidFill>
                  <a:schemeClr val="bg1"/>
                </a:solidFill>
              </a:rPr>
              <a:t>JAVA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>
                <a:solidFill>
                  <a:schemeClr val="bg1"/>
                </a:solidFill>
              </a:rPr>
              <a:t>M.Sc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7582</TotalTime>
  <Words>882</Words>
  <Application>Microsoft Office PowerPoint</Application>
  <PresentationFormat>Apresentação na tela (16:9)</PresentationFormat>
  <Paragraphs>120</Paragraphs>
  <Slides>17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Desenvolvimento de Software  JAVA </vt:lpstr>
      <vt:lpstr>Aulas CGI/SERVLETS; DAO/MVC</vt:lpstr>
      <vt:lpstr>CGI/SERVLETS</vt:lpstr>
      <vt:lpstr>CGI/SERVLETS</vt:lpstr>
      <vt:lpstr>CGI/SERVLETS</vt:lpstr>
      <vt:lpstr>DAO/MVC</vt:lpstr>
      <vt:lpstr>DAO/MVC</vt:lpstr>
      <vt:lpstr>DAO/MVC</vt:lpstr>
      <vt:lpstr>DAO/MVC</vt:lpstr>
      <vt:lpstr>DAO/MVC</vt:lpstr>
      <vt:lpstr>DAO/MVC</vt:lpstr>
      <vt:lpstr>DAO/MVC</vt:lpstr>
      <vt:lpstr>Leitura Específica</vt:lpstr>
      <vt:lpstr>Aprenda+</vt:lpstr>
      <vt:lpstr>Dinâmica/Atividades</vt:lpstr>
      <vt:lpstr>Referências Bibliográficas</vt:lpstr>
      <vt:lpstr>Desenvolvimento de Software  JAVA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Disciplina</dc:title>
  <dc:creator>JOAO CAIRO FERREIRA</dc:creator>
  <cp:lastModifiedBy>HELENO CARDOSO DA SILVA FILHO</cp:lastModifiedBy>
  <cp:revision>1369</cp:revision>
  <dcterms:created xsi:type="dcterms:W3CDTF">2020-03-17T20:12:34Z</dcterms:created>
  <dcterms:modified xsi:type="dcterms:W3CDTF">2024-03-09T15:15:22Z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1033-11.1.0.9126</vt:lpwstr>
  </property>
</Properties>
</file>