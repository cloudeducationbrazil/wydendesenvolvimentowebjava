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6"/>
  </p:notesMasterIdLst>
  <p:sldIdLst>
    <p:sldId id="256" r:id="rId2"/>
    <p:sldId id="291" r:id="rId3"/>
    <p:sldId id="487" r:id="rId4"/>
    <p:sldId id="397" r:id="rId5"/>
    <p:sldId id="409" r:id="rId6"/>
    <p:sldId id="416" r:id="rId7"/>
    <p:sldId id="396" r:id="rId8"/>
    <p:sldId id="429" r:id="rId9"/>
    <p:sldId id="405" r:id="rId10"/>
    <p:sldId id="407" r:id="rId11"/>
    <p:sldId id="404" r:id="rId12"/>
    <p:sldId id="406" r:id="rId13"/>
    <p:sldId id="408" r:id="rId14"/>
    <p:sldId id="410" r:id="rId15"/>
    <p:sldId id="531" r:id="rId16"/>
    <p:sldId id="398" r:id="rId17"/>
    <p:sldId id="411" r:id="rId18"/>
    <p:sldId id="412" r:id="rId19"/>
    <p:sldId id="413" r:id="rId20"/>
    <p:sldId id="414" r:id="rId21"/>
    <p:sldId id="415" r:id="rId22"/>
    <p:sldId id="417" r:id="rId23"/>
    <p:sldId id="418" r:id="rId24"/>
    <p:sldId id="419" r:id="rId25"/>
    <p:sldId id="421" r:id="rId26"/>
    <p:sldId id="443" r:id="rId27"/>
    <p:sldId id="424" r:id="rId28"/>
    <p:sldId id="426" r:id="rId29"/>
    <p:sldId id="427" r:id="rId30"/>
    <p:sldId id="428" r:id="rId31"/>
    <p:sldId id="430" r:id="rId32"/>
    <p:sldId id="425" r:id="rId33"/>
    <p:sldId id="450" r:id="rId34"/>
    <p:sldId id="451" r:id="rId35"/>
    <p:sldId id="452" r:id="rId36"/>
    <p:sldId id="449" r:id="rId37"/>
    <p:sldId id="448" r:id="rId38"/>
    <p:sldId id="447" r:id="rId39"/>
    <p:sldId id="445" r:id="rId40"/>
    <p:sldId id="444" r:id="rId41"/>
    <p:sldId id="441" r:id="rId42"/>
    <p:sldId id="442" r:id="rId43"/>
    <p:sldId id="440" r:id="rId44"/>
    <p:sldId id="446" r:id="rId45"/>
    <p:sldId id="453" r:id="rId46"/>
    <p:sldId id="455" r:id="rId47"/>
    <p:sldId id="454" r:id="rId48"/>
    <p:sldId id="431" r:id="rId49"/>
    <p:sldId id="438" r:id="rId50"/>
    <p:sldId id="435" r:id="rId51"/>
    <p:sldId id="436" r:id="rId52"/>
    <p:sldId id="437" r:id="rId53"/>
    <p:sldId id="432" r:id="rId54"/>
    <p:sldId id="433" r:id="rId55"/>
    <p:sldId id="434" r:id="rId56"/>
    <p:sldId id="506" r:id="rId57"/>
    <p:sldId id="509" r:id="rId58"/>
    <p:sldId id="525" r:id="rId59"/>
    <p:sldId id="526" r:id="rId60"/>
    <p:sldId id="527" r:id="rId61"/>
    <p:sldId id="529" r:id="rId62"/>
    <p:sldId id="528" r:id="rId63"/>
    <p:sldId id="530" r:id="rId64"/>
    <p:sldId id="532" r:id="rId65"/>
    <p:sldId id="537" r:id="rId66"/>
    <p:sldId id="533" r:id="rId67"/>
    <p:sldId id="534" r:id="rId68"/>
    <p:sldId id="535" r:id="rId69"/>
    <p:sldId id="536" r:id="rId70"/>
    <p:sldId id="538" r:id="rId71"/>
    <p:sldId id="539" r:id="rId72"/>
    <p:sldId id="540" r:id="rId73"/>
    <p:sldId id="541" r:id="rId74"/>
    <p:sldId id="542" r:id="rId75"/>
    <p:sldId id="543" r:id="rId76"/>
    <p:sldId id="545" r:id="rId77"/>
    <p:sldId id="546" r:id="rId78"/>
    <p:sldId id="547" r:id="rId79"/>
    <p:sldId id="548" r:id="rId80"/>
    <p:sldId id="549" r:id="rId81"/>
    <p:sldId id="550" r:id="rId82"/>
    <p:sldId id="551" r:id="rId83"/>
    <p:sldId id="552" r:id="rId84"/>
    <p:sldId id="553" r:id="rId85"/>
    <p:sldId id="554" r:id="rId86"/>
    <p:sldId id="544" r:id="rId87"/>
    <p:sldId id="555" r:id="rId88"/>
    <p:sldId id="556" r:id="rId89"/>
    <p:sldId id="558" r:id="rId90"/>
    <p:sldId id="557" r:id="rId91"/>
    <p:sldId id="577" r:id="rId92"/>
    <p:sldId id="561" r:id="rId93"/>
    <p:sldId id="560" r:id="rId94"/>
    <p:sldId id="559" r:id="rId95"/>
    <p:sldId id="562" r:id="rId96"/>
    <p:sldId id="563" r:id="rId97"/>
    <p:sldId id="564" r:id="rId98"/>
    <p:sldId id="565" r:id="rId99"/>
    <p:sldId id="566" r:id="rId100"/>
    <p:sldId id="567" r:id="rId101"/>
    <p:sldId id="572" r:id="rId102"/>
    <p:sldId id="569" r:id="rId103"/>
    <p:sldId id="570" r:id="rId104"/>
    <p:sldId id="571" r:id="rId105"/>
    <p:sldId id="568" r:id="rId106"/>
    <p:sldId id="573" r:id="rId107"/>
    <p:sldId id="574" r:id="rId108"/>
    <p:sldId id="575" r:id="rId109"/>
    <p:sldId id="576" r:id="rId110"/>
    <p:sldId id="333" r:id="rId111"/>
    <p:sldId id="323" r:id="rId112"/>
    <p:sldId id="334" r:id="rId113"/>
    <p:sldId id="337" r:id="rId114"/>
    <p:sldId id="309" r:id="rId115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47" autoAdjust="0"/>
    <p:restoredTop sz="83649" autoAdjust="0"/>
  </p:normalViewPr>
  <p:slideViewPr>
    <p:cSldViewPr snapToGrid="0">
      <p:cViewPr varScale="1">
        <p:scale>
          <a:sx n="77" d="100"/>
          <a:sy n="77" d="100"/>
        </p:scale>
        <p:origin x="612" y="78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20116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72680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30406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064279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06282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521365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57391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66402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374541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66931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21594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0323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61656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311083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791145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600275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358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62695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793207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87034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862299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27479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216225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245965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72227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806548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95820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973407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166970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007210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78541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854307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68648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173343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62528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25134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16448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9786041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287785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3852329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5237691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795905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828680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20277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16683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35585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1162911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3528979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9388528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8621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577921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4562093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2469484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128448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0159277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804109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8518726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4592575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85955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772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4217548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3818474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1259394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6398383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49098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322408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5630846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090440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966276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609444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0664965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802174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655720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1313140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8205792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8143691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25047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7925166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909674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1134019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323082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06624316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6983821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499995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1442751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77836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635644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8981751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04181408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0050720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39728950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1307669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5963034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4547280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743686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583274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9170413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8597352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5779859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2153623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361937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364751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7843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0441101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4982217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7532717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7015432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9624905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portuguese/news/npm-x-npx-qual-e-a-diferenca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npm@8.12.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7P03kkrEG8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papode.dev/%F0%9F%94%A5top-10-extens%C3%B5es-vscode-para-desenvolvimento-react-%F0%9F%94%A5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/create-react-app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tart.spring.io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bootstrap@5.1.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axios@0.24.0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mailto:bootstrap@5.1.3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9pEHWA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mailto:react-router-dom@6.2.1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etbootstrap.com/docs/5.0/layout/breakpoints/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etbootstrap.com/docs/4.0/layout/grid/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/" TargetMode="External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tlify.com/" TargetMode="Externa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mailto:axios@0.24.0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ebpack.js.org/guides/installation/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ebpack.js.org/concepts/#loaders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pt-br.reactjs.org/docs/hooks-overview.html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pt-br.reactjs.org/docs/components-and-props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dsfilmes-heleno.netlify.app/" TargetMode="External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https://iopscience.iop.org/article/10.1088/1742-6596/1933/1/012041/pdf" TargetMode="External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w3school-learn.com/2021/12/spring-boot-starter-tutorial.html" TargetMode="Externa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DKW6IlUrxG8" TargetMode="External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pt-br.reactjs.org/" TargetMode="External"/><Relationship Id="rId4" Type="http://schemas.openxmlformats.org/officeDocument/2006/relationships/hyperlink" Target="https://www.javatpoint.com/spring-boot-download-and-install-sts-ide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jquery/jquery_quiz.asp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Desenvolvimento de Software 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Aulas 13 JAVA Projeto Web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</a:t>
            </a:r>
            <a:r>
              <a:rPr lang="pt-BR" sz="3600" b="1" dirty="0">
                <a:solidFill>
                  <a:schemeClr val="bg1"/>
                </a:solidFill>
              </a:rPr>
              <a:t>Arquitetura MVC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Versionamento </a:t>
            </a:r>
            <a:r>
              <a:rPr lang="pt-BR" sz="3600" b="1" dirty="0" err="1">
                <a:solidFill>
                  <a:schemeClr val="bg1"/>
                </a:solidFill>
              </a:rPr>
              <a:t>Git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Projeto </a:t>
            </a:r>
            <a:r>
              <a:rPr lang="pt-BR" sz="3600" b="1" dirty="0" err="1">
                <a:solidFill>
                  <a:schemeClr val="bg1"/>
                </a:solidFill>
              </a:rPr>
              <a:t>Monorepo</a:t>
            </a:r>
            <a:r>
              <a:rPr lang="pt-BR" sz="3600" b="1" dirty="0">
                <a:solidFill>
                  <a:schemeClr val="bg1"/>
                </a:solidFill>
              </a:rPr>
              <a:t>: Front e Back</a:t>
            </a:r>
            <a:br>
              <a:rPr lang="pt-BR" sz="3600" b="1" dirty="0">
                <a:solidFill>
                  <a:schemeClr val="bg1"/>
                </a:solidFill>
              </a:rPr>
            </a:br>
            <a:r>
              <a:rPr lang="pt-BR" sz="3600" b="1" dirty="0">
                <a:solidFill>
                  <a:schemeClr val="bg1"/>
                </a:solidFill>
              </a:rPr>
              <a:t>	Front </a:t>
            </a:r>
            <a:r>
              <a:rPr lang="pt-BR" sz="3600" b="1" dirty="0" err="1">
                <a:solidFill>
                  <a:schemeClr val="bg1"/>
                </a:solidFill>
              </a:rPr>
              <a:t>end</a:t>
            </a:r>
            <a:r>
              <a:rPr lang="pt-BR" sz="3600" b="1" dirty="0">
                <a:solidFill>
                  <a:schemeClr val="bg1"/>
                </a:solidFill>
              </a:rPr>
              <a:t> </a:t>
            </a:r>
            <a:r>
              <a:rPr lang="pt-BR" sz="3600" b="1" dirty="0" err="1">
                <a:solidFill>
                  <a:schemeClr val="bg1"/>
                </a:solidFill>
              </a:rPr>
              <a:t>React</a:t>
            </a:r>
            <a:endParaRPr lang="pt-BR" sz="3600" b="1" dirty="0">
              <a:solidFill>
                <a:schemeClr val="bg1"/>
              </a:solidFill>
            </a:endParaRP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C84F348C-DBF3-0E5B-8E3C-FB34116A36CB}"/>
              </a:ext>
            </a:extLst>
          </p:cNvPr>
          <p:cNvSpPr/>
          <p:nvPr/>
        </p:nvSpPr>
        <p:spPr>
          <a:xfrm>
            <a:off x="425884" y="2041463"/>
            <a:ext cx="8292231" cy="2994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D7843CE-F59F-8F75-7521-F66445908C55}"/>
              </a:ext>
            </a:extLst>
          </p:cNvPr>
          <p:cNvSpPr/>
          <p:nvPr/>
        </p:nvSpPr>
        <p:spPr>
          <a:xfrm>
            <a:off x="529228" y="3144033"/>
            <a:ext cx="8085543" cy="170353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Modelo</a:t>
            </a:r>
            <a:r>
              <a:rPr lang="en-US" b="1" dirty="0">
                <a:solidFill>
                  <a:srgbClr val="0070C0"/>
                </a:solidFill>
              </a:rPr>
              <a:t> MVC JAVA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CA25B04-D134-EA5E-2C03-45D127252B47}"/>
              </a:ext>
            </a:extLst>
          </p:cNvPr>
          <p:cNvSpPr/>
          <p:nvPr/>
        </p:nvSpPr>
        <p:spPr>
          <a:xfrm>
            <a:off x="602097" y="2095774"/>
            <a:ext cx="7918733" cy="369328"/>
          </a:xfrm>
          <a:prstGeom prst="rect">
            <a:avLst/>
          </a:prstGeom>
          <a:solidFill>
            <a:srgbClr val="92D05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CONTROLADORES</a:t>
            </a:r>
            <a:r>
              <a:rPr kumimoji="0" lang="pt-BR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REST – Camada </a:t>
            </a:r>
            <a:r>
              <a:rPr kumimoji="0" lang="pt-BR" sz="1800" b="1" i="0" u="none" strike="noStrike" cap="none" spc="0" normalizeH="0" baseline="0" dirty="0" err="1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Controller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(C)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3491ADB-B6E5-3386-D5A9-340772CB0362}"/>
              </a:ext>
            </a:extLst>
          </p:cNvPr>
          <p:cNvSpPr/>
          <p:nvPr/>
        </p:nvSpPr>
        <p:spPr>
          <a:xfrm>
            <a:off x="623170" y="3277348"/>
            <a:ext cx="7897660" cy="369328"/>
          </a:xfrm>
          <a:prstGeom prst="rect">
            <a:avLst/>
          </a:prstGeom>
          <a:solidFill>
            <a:srgbClr val="00B0F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b="1" dirty="0"/>
              <a:t>SERVIÇOS (RN/Transações) – Camada </a:t>
            </a:r>
            <a:r>
              <a:rPr lang="pt-BR" b="1" dirty="0" err="1"/>
              <a:t>service</a:t>
            </a:r>
            <a:r>
              <a:rPr lang="pt-BR" b="1" dirty="0"/>
              <a:t> (V)</a:t>
            </a:r>
            <a:endParaRPr kumimoji="0" lang="pt-BR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7A41553B-0F20-4CA4-D324-0D54B689D692}"/>
              </a:ext>
            </a:extLst>
          </p:cNvPr>
          <p:cNvSpPr/>
          <p:nvPr/>
        </p:nvSpPr>
        <p:spPr>
          <a:xfrm>
            <a:off x="623170" y="4330057"/>
            <a:ext cx="7897660" cy="369328"/>
          </a:xfrm>
          <a:prstGeom prst="rect">
            <a:avLst/>
          </a:prstGeom>
          <a:solidFill>
            <a:srgbClr val="FFC000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ACESSO A DADOS (Operações com BD) – Camada </a:t>
            </a:r>
            <a:r>
              <a:rPr kumimoji="0" lang="pt-BR" sz="1800" b="1" i="0" u="none" strike="noStrike" cap="none" spc="0" normalizeH="0" baseline="0" dirty="0" err="1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Repository</a:t>
            </a:r>
            <a:r>
              <a:rPr kumimoji="0" lang="pt-BR" sz="1800" b="1" i="0" u="none" strike="noStrike" cap="none" spc="0" normalizeH="0" baseline="0" dirty="0">
                <a:ln>
                  <a:noFill/>
                </a:ln>
                <a:solidFill>
                  <a:srgbClr val="0070C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 (M)</a:t>
            </a:r>
          </a:p>
        </p:txBody>
      </p:sp>
      <p:sp>
        <p:nvSpPr>
          <p:cNvPr id="4" name="Seta: de Cima para Baixo 3">
            <a:extLst>
              <a:ext uri="{FF2B5EF4-FFF2-40B4-BE49-F238E27FC236}">
                <a16:creationId xmlns:a16="http://schemas.microsoft.com/office/drawing/2014/main" id="{7BA8E044-AC4E-4B6E-E372-2F46E4EA56B2}"/>
              </a:ext>
            </a:extLst>
          </p:cNvPr>
          <p:cNvSpPr/>
          <p:nvPr/>
        </p:nvSpPr>
        <p:spPr>
          <a:xfrm>
            <a:off x="4334005" y="3720230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2" name="Seta: de Cima para Baixo 11">
            <a:extLst>
              <a:ext uri="{FF2B5EF4-FFF2-40B4-BE49-F238E27FC236}">
                <a16:creationId xmlns:a16="http://schemas.microsoft.com/office/drawing/2014/main" id="{E8C4F0DA-AFC5-48BF-B094-39EDFFB48462}"/>
              </a:ext>
            </a:extLst>
          </p:cNvPr>
          <p:cNvSpPr/>
          <p:nvPr/>
        </p:nvSpPr>
        <p:spPr>
          <a:xfrm>
            <a:off x="4312938" y="2506268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F899155-9835-604C-8241-9FD2A4AE2D4D}"/>
              </a:ext>
            </a:extLst>
          </p:cNvPr>
          <p:cNvSpPr/>
          <p:nvPr/>
        </p:nvSpPr>
        <p:spPr>
          <a:xfrm>
            <a:off x="404817" y="1054849"/>
            <a:ext cx="8229600" cy="369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indent="0" algn="ctr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4" name="Seta: de Cima para Baixo 13">
            <a:extLst>
              <a:ext uri="{FF2B5EF4-FFF2-40B4-BE49-F238E27FC236}">
                <a16:creationId xmlns:a16="http://schemas.microsoft.com/office/drawing/2014/main" id="{6CD1D12D-C432-B806-2601-D2B7E3CA5E3B}"/>
              </a:ext>
            </a:extLst>
          </p:cNvPr>
          <p:cNvSpPr/>
          <p:nvPr/>
        </p:nvSpPr>
        <p:spPr>
          <a:xfrm>
            <a:off x="4312937" y="1470574"/>
            <a:ext cx="413359" cy="541264"/>
          </a:xfrm>
          <a:prstGeom prst="upDownArrow">
            <a:avLst/>
          </a:prstGeom>
          <a:solidFill>
            <a:srgbClr val="FFFFFF"/>
          </a:solidFill>
          <a:ln w="25400" cap="flat">
            <a:solidFill>
              <a:schemeClr val="accent1"/>
            </a:solidFill>
            <a:prstDash val="solid"/>
            <a:round/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pt-BR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F0535BE-1CEB-7FAD-66D1-4B6A34835555}"/>
              </a:ext>
            </a:extLst>
          </p:cNvPr>
          <p:cNvSpPr txBox="1"/>
          <p:nvPr/>
        </p:nvSpPr>
        <p:spPr>
          <a:xfrm>
            <a:off x="4862943" y="1546875"/>
            <a:ext cx="3329079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(Requisições HTTP/REST)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CDA115B-DA84-9DBB-C388-78384B7372E9}"/>
              </a:ext>
            </a:extLst>
          </p:cNvPr>
          <p:cNvSpPr txBox="1"/>
          <p:nvPr/>
        </p:nvSpPr>
        <p:spPr>
          <a:xfrm>
            <a:off x="4862942" y="2599357"/>
            <a:ext cx="3329079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C4781DAB-D9A3-2AE2-5883-68C13BABEF91}"/>
              </a:ext>
            </a:extLst>
          </p:cNvPr>
          <p:cNvSpPr txBox="1"/>
          <p:nvPr/>
        </p:nvSpPr>
        <p:spPr>
          <a:xfrm>
            <a:off x="4862943" y="3749913"/>
            <a:ext cx="2178818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ORM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Entities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8A2B9771-A70C-01C3-1CA6-EDE800EEA15B}"/>
              </a:ext>
            </a:extLst>
          </p:cNvPr>
          <p:cNvSpPr txBox="1"/>
          <p:nvPr/>
        </p:nvSpPr>
        <p:spPr>
          <a:xfrm>
            <a:off x="7135702" y="3788172"/>
            <a:ext cx="1254313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Transações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3B7D47D-CE0C-8394-7402-32252BA7E3CF}"/>
              </a:ext>
            </a:extLst>
          </p:cNvPr>
          <p:cNvSpPr txBox="1"/>
          <p:nvPr/>
        </p:nvSpPr>
        <p:spPr>
          <a:xfrm>
            <a:off x="529227" y="2650726"/>
            <a:ext cx="2001031" cy="36932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endParaRPr kumimoji="0" lang="pt-BR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13248284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Arquitetura</a:t>
            </a:r>
            <a:r>
              <a:rPr lang="en-US" b="1" dirty="0">
                <a:solidFill>
                  <a:srgbClr val="0070C0"/>
                </a:solidFill>
              </a:rPr>
              <a:t> MVC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Estilo Arquitetural: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MVC 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 BD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Postgre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Integração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Teste das requisições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40570749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Versionamento</a:t>
            </a:r>
            <a:r>
              <a:rPr lang="en-US" b="1" dirty="0">
                <a:solidFill>
                  <a:srgbClr val="0070C0"/>
                </a:solidFill>
              </a:rPr>
              <a:t> Git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projeto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repositório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monorepo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"#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&gt;&gt; README.md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README.md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-m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branch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-M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ou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depende da configuração do seu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https://github.com/CloudEducationBrazil/NOMEprojetoweb.git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push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-u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ou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25916394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NPM vs NPX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manager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é 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gerenciador de dependências/pacotes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nodejs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também é uma ferramenta de interface de linha de comando, cujo propósito é facilitar a instalação e 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gerenciamento de depende</a:t>
            </a:r>
          </a:p>
          <a:p>
            <a:pPr marL="0" indent="0" algn="just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ncias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hospedadas no registro 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https://www.freecodecamp.org/portuguese/news/npm-x-npx-qual-e-a-diferenca/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432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Baixar/Instalar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r>
              <a:rPr lang="pt-BR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(nodejs.org);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–v;</a:t>
            </a:r>
            <a:endParaRPr lang="pt-BR" sz="2400" dirty="0"/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Nova Versão 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–g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npm@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8.12.1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https://yarnpkg.com/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--global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–v</a:t>
            </a:r>
            <a:r>
              <a:rPr lang="pt-BR" sz="2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04981000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Baixar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https://www.youtube.com/watch?v=c7P03kkrEG8</a:t>
            </a: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ü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 as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extensões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highlight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ESLint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flowtype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Server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Studio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IntelliCode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Prettier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DotENV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JSX HTML;</a:t>
            </a:r>
          </a:p>
          <a:p>
            <a:pPr marL="457200" lvl="1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https://papode.dev/%F0%9F%94%A5top-10-extens%C3%B5es-vscode-para-desenvolvimento-react-%F0%9F%94%A5/</a:t>
            </a: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Implementar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Interface GUI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app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ou JSP; JFX;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(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estático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Figma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https://www.figma.com/)</a:t>
            </a:r>
          </a:p>
        </p:txBody>
      </p:sp>
    </p:spTree>
    <p:extLst>
      <p:ext uri="{BB962C8B-B14F-4D97-AF65-F5344CB8AC3E}">
        <p14:creationId xmlns:p14="http://schemas.microsoft.com/office/powerpoint/2010/main" val="331147567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https://github.com/facebook/create-react-app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(criar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somente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pasta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dentro da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NomeProjetoWeb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botão direito do mouse,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bash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depois digitar à instrução abaixo, quando concluir, testar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 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template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Installing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react, react-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and react-scripts with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cra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-template-typescript...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Quando conclui,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 existir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deletar a pasta 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5934932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Testando</a:t>
            </a:r>
            <a:r>
              <a:rPr lang="en-US" b="1" dirty="0">
                <a:solidFill>
                  <a:srgbClr val="0070C0"/>
                </a:solidFill>
              </a:rPr>
              <a:t> Frontend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Alguns arquivos criados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env.d.ts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digitar: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 		OU 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start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Se necessário,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pasta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nodejs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(arquivos: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.cmd;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.cmd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alterar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por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=global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–g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npx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Outros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eject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194092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Backend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a URL: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https://start.spring.io/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informar as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parametrizações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dependências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Web; JPA; H2; PostgreSQL; Security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Web(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Web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PostgreSQL(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JPA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JPA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H2(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Security(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 algn="just">
              <a:buNone/>
            </a:pP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Clicar em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XXX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zip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descompactar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renomear para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Mover para dentro da pasta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dsfilmes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Dentro do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dsfilmes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02 pastas(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2742882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Testanto</a:t>
            </a:r>
            <a:r>
              <a:rPr lang="en-US" b="1" dirty="0">
                <a:solidFill>
                  <a:srgbClr val="0070C0"/>
                </a:solidFill>
              </a:rPr>
              <a:t> Backend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a IDE STS4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menu do STS4, acessar, File -&gt;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(Next)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(selecionar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clicar Ok.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botão direito do mouse,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Spring Boot App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Caso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conflito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 a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porta do TOMCAT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altere a porta no arquivo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application.properties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, conteúdo,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server.port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=8088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62836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Testanto</a:t>
            </a:r>
            <a:r>
              <a:rPr lang="en-US" b="1" dirty="0">
                <a:solidFill>
                  <a:srgbClr val="0070C0"/>
                </a:solidFill>
              </a:rPr>
              <a:t> Backend/pom.xml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principal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ProjetoApplication.java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1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Acrescentar no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pom.xml(duplo click)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arquivo de configurações do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suas dependências, depois da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tag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&lt;/plugin&gt;, a seguinte instrução: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org.apache.maven.plugins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artifactId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resources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-plugin&lt;/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artifactId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&lt;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&gt;3.1.0&lt;/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&lt;!--$NO-MVN-MAN-VER$--&gt;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plugin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Atenção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No projeto web, botão direito do mouse,  menu </a:t>
            </a:r>
            <a:r>
              <a:rPr lang="pt-BR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Update Project (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Ok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indent="0" algn="just">
              <a:buNone/>
            </a:pP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Marcar o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checkbox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Update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Snapshots/Releases.</a:t>
            </a: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285846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Extensões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uma extensão de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é usado para quaisquer módulos e trechos de código feitos 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puro. Você deve usar arquivos JS ao escrever funções que não usarão nenhum recurso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mas serão usadas entre diferentes componentes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uma extensão de sintaxe de arquivo usada pela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você pode renderizar componentes, importar arquivos CSS e usar ganchos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entre outras coisas.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a versão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JSX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é um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superset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adiciona digitação estática no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0131519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Bibliotecas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seguintes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bibliotecas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ao projeto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Definição de rotas no front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 add react-router-dom@6.2.1 @types/react-router-dom@5.3.2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bootstrap@5.1.3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Rotas integração com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axios@0.24.0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Anexo,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estilização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No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": "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“),</a:t>
            </a:r>
          </a:p>
        </p:txBody>
      </p:sp>
    </p:spTree>
    <p:extLst>
      <p:ext uri="{BB962C8B-B14F-4D97-AF65-F5344CB8AC3E}">
        <p14:creationId xmlns:p14="http://schemas.microsoft.com/office/powerpoint/2010/main" val="285065537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Pasta Public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Carregar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Todos os arquivos,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Limpar os comentários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 as referências link das imagens deletadas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Alterar o título do projeto web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189999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Pasta </a:t>
            </a:r>
            <a:r>
              <a:rPr lang="en-US" b="1" dirty="0" err="1">
                <a:solidFill>
                  <a:srgbClr val="0070C0"/>
                </a:solidFill>
              </a:rPr>
              <a:t>Src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apagar os arquivos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.test.js,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.css,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logo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.svg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reportWebVitals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.js e </a:t>
            </a:r>
          </a:p>
          <a:p>
            <a:pPr marL="2308860" lvl="5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setupTests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.js.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Arquivos na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index.css;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-app-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env.d.ts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510531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Revisar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'react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’;</a:t>
            </a:r>
          </a:p>
          <a:p>
            <a:pPr marL="891540" lvl="2" indent="0" algn="just">
              <a:buNone/>
            </a:pP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&lt;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Página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default App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992612625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Revisar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'react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ReactDOM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'react-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/client';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'./index.css';</a:t>
            </a: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'./App';</a:t>
            </a:r>
          </a:p>
          <a:p>
            <a:pPr marL="891540" lvl="2" indent="0" algn="just">
              <a:buNone/>
            </a:pPr>
            <a:endParaRPr lang="en-US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root = 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ReactDOM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.createRoot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	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document.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getElementById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('root') as 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HTMLElement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);</a:t>
            </a:r>
          </a:p>
          <a:p>
            <a:pPr marL="891540" lvl="2" indent="0" algn="just">
              <a:buNone/>
            </a:pP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render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StrictMode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&lt;</a:t>
            </a:r>
            <a:r>
              <a:rPr lang="en-US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891540" lvl="2" indent="0" algn="just">
              <a:buNone/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&lt;/</a:t>
            </a:r>
            <a:r>
              <a:rPr lang="en-US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StrictMode</a:t>
            </a: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);</a:t>
            </a:r>
          </a:p>
        </p:txBody>
      </p:sp>
    </p:spTree>
    <p:extLst>
      <p:ext uri="{BB962C8B-B14F-4D97-AF65-F5344CB8AC3E}">
        <p14:creationId xmlns:p14="http://schemas.microsoft.com/office/powerpoint/2010/main" val="1875289441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Testando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Abrir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terminal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pasta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digitar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Compilação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desenvolvimento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aparecer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browser </a:t>
            </a:r>
            <a:r>
              <a:rPr lang="en-US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Página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Web)</a:t>
            </a:r>
          </a:p>
          <a:p>
            <a:pPr marL="891540" lvl="2" indent="0" algn="just">
              <a:buNone/>
            </a:pP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Compilação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produção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91540" lvl="2" indent="0" algn="just">
              <a:buNone/>
            </a:pPr>
            <a:r>
              <a:rPr 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 build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4250713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Bootstrap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Integrar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ao projeto front end.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terminal root do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executar: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bootstrap@5.1.3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Outros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audit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	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audit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--force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2795954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Incluir no arquivo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antes da linha: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'./index.css';</a:t>
            </a:r>
          </a:p>
          <a:p>
            <a:pPr marL="0" indent="0" algn="just">
              <a:buNone/>
            </a:pPr>
            <a:r>
              <a:rPr lang="nl-NL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nl-NL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nl-NL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'bootstrap/dist/css/bootstrap.css’;</a:t>
            </a:r>
          </a:p>
        </p:txBody>
      </p:sp>
    </p:spTree>
    <p:extLst>
      <p:ext uri="{BB962C8B-B14F-4D97-AF65-F5344CB8AC3E}">
        <p14:creationId xmlns:p14="http://schemas.microsoft.com/office/powerpoint/2010/main" val="1570338105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index.css (</a:t>
            </a:r>
            <a:r>
              <a:rPr lang="en-US" b="1" dirty="0" err="1">
                <a:solidFill>
                  <a:srgbClr val="FF0000"/>
                </a:solidFill>
              </a:rPr>
              <a:t>Incluir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@import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('https://fonts.googleapis.com/css2?family=Open+Sans:wght@400;700&amp;display=swap’);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--color-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#4D41C0; 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box-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border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-box;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font-family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'Open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sans-serif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0547923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index.css (</a:t>
            </a:r>
            <a:r>
              <a:rPr lang="en-US" b="1" dirty="0">
                <a:solidFill>
                  <a:srgbClr val="FF0000"/>
                </a:solidFill>
              </a:rPr>
              <a:t>…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background-color: #E5E5E5;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hover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text-decoration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color: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unset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https://fonts.google.com/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(buscar a(s)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(s) 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seleciona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.)</a:t>
            </a:r>
          </a:p>
        </p:txBody>
      </p:sp>
    </p:spTree>
    <p:extLst>
      <p:ext uri="{BB962C8B-B14F-4D97-AF65-F5344CB8AC3E}">
        <p14:creationId xmlns:p14="http://schemas.microsoft.com/office/powerpoint/2010/main" val="2410370367"/>
      </p:ext>
    </p:extLst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dentro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(dentro </a:t>
            </a:r>
            <a:r>
              <a:rPr lang="pt-BR" sz="20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 pasta SRC)</a:t>
            </a:r>
            <a:r>
              <a:rPr lang="pt-BR" sz="20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dentro de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como .SVG;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(&lt;, voltar) e exportar (.SVG);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star-full e exportar (.SVG);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(.SVG);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https://bit.ly/39pEHWA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selecionar a imagem star-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exportar (.SVG);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Colocar as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048529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tsconfig.json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(incluir: “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”: ”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”,), incluir no início do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compilerOptions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Para facilitar os atalhos, no momento de referenciar os arquivos dentro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Senão funcionar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um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raiz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incluir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instrução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NODE_PATH=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09756429"/>
      </p:ext>
    </p:extLst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Próximos Passos (Criando um componente)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uma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um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componentes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JSX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componentes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TSX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script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915803658"/>
      </p:ext>
    </p:extLst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GithubIcon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assets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github.svg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container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dsmovie-nav-content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	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 Filmes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&lt;/h1&gt;</a:t>
            </a:r>
          </a:p>
        </p:txBody>
      </p:sp>
    </p:spTree>
    <p:extLst>
      <p:ext uri="{BB962C8B-B14F-4D97-AF65-F5344CB8AC3E}">
        <p14:creationId xmlns:p14="http://schemas.microsoft.com/office/powerpoint/2010/main" val="2821986823"/>
      </p:ext>
    </p:extLst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Continuação 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href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cloudeducationbrazil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target="_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blank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noreferrer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GithubIcon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-link"&gt;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cloudeducationbrazil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&lt;/p&gt;</a:t>
            </a:r>
          </a:p>
          <a:p>
            <a:pPr marL="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813443297"/>
      </p:ext>
    </p:extLst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Navbar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(Criando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Continuação 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92760" lvl="3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92760" lvl="3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header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802456297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Router-Dom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Instalar a biblioteca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DOM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para trabalhar com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front 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do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react-router-dom@6.2.1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@types/react-router-dom@5.3.2</a:t>
            </a:r>
          </a:p>
        </p:txBody>
      </p:sp>
    </p:spTree>
    <p:extLst>
      <p:ext uri="{BB962C8B-B14F-4D97-AF65-F5344CB8AC3E}">
        <p14:creationId xmlns:p14="http://schemas.microsoft.com/office/powerpoint/2010/main" val="207146582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"../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const movie = {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id: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</a:t>
            </a:r>
          </a:p>
        </p:txBody>
      </p:sp>
    </p:spTree>
    <p:extLst>
      <p:ext uri="{BB962C8B-B14F-4D97-AF65-F5344CB8AC3E}">
        <p14:creationId xmlns:p14="http://schemas.microsoft.com/office/powerpoint/2010/main" val="2779540092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image: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"https://www.themoviedb.org/t/p/w533_and_h300_bestv2/jBJWaqoSCiARWtfV0GlqHrcdidd.jpg",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"Juju",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4.5,</a:t>
            </a:r>
          </a:p>
          <a:p>
            <a:pPr marL="447675" lvl="1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503306213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bottom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</p:txBody>
      </p:sp>
    </p:spTree>
    <p:extLst>
      <p:ext uri="{BB962C8B-B14F-4D97-AF65-F5344CB8AC3E}">
        <p14:creationId xmlns:p14="http://schemas.microsoft.com/office/powerpoint/2010/main" val="3972478856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26946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={`/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/${movie.id}`}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"&gt;Avaliar&lt;/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&lt;/Link&gt;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65662089"/>
      </p:ext>
    </p:extLst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"../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3.5;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count = 13;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</p:txBody>
      </p:sp>
    </p:spTree>
    <p:extLst>
      <p:ext uri="{BB962C8B-B14F-4D97-AF65-F5344CB8AC3E}">
        <p14:creationId xmlns:p14="http://schemas.microsoft.com/office/powerpoint/2010/main" val="933548306"/>
      </p:ext>
    </p:extLst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-score-container"&gt;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{score &gt; 0 ?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score.toFixed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 : "-"}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avaliações&lt;/p&gt;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080920476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StarHalf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StarEmpty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"assets/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/star-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empty.svg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</p:txBody>
      </p:sp>
    </p:spTree>
    <p:extLst>
      <p:ext uri="{BB962C8B-B14F-4D97-AF65-F5344CB8AC3E}">
        <p14:creationId xmlns:p14="http://schemas.microsoft.com/office/powerpoint/2010/main" val="263127695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-stars-container"&gt;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StarHalf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StarEmpty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58510839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ReactComponent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Arrow} from "assets/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arrow.svg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“./styles.css";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-box"&gt;</a:t>
            </a:r>
          </a:p>
        </p:txBody>
      </p:sp>
    </p:spTree>
    <p:extLst>
      <p:ext uri="{BB962C8B-B14F-4D97-AF65-F5344CB8AC3E}">
        <p14:creationId xmlns:p14="http://schemas.microsoft.com/office/powerpoint/2010/main" val="452386136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dsmovie-pagination-button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&lt;p&gt;{`${1} de ${3}`}&lt;/p&gt;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dsmovie-pagination-button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={false}&gt;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-flip-horizontal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/&gt;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4197168670"/>
      </p:ext>
    </p:extLst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JAVA–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–Pagination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194550081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dentro da 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duas pastas/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com seus respectivos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“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../../components/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(){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	&lt;&gt;</a:t>
            </a:r>
          </a:p>
        </p:txBody>
      </p:sp>
    </p:spTree>
    <p:extLst>
      <p:ext uri="{BB962C8B-B14F-4D97-AF65-F5344CB8AC3E}">
        <p14:creationId xmlns:p14="http://schemas.microsoft.com/office/powerpoint/2010/main" val="2501599243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=“container”&gt; 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700253736"/>
      </p:ext>
    </p:extLst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col-sm-6 col-lg-4 col-xl-3 mb-3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”&gt;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153186865"/>
      </p:ext>
    </p:extLst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841500" lvl="4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&lt;/&gt;   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 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939312442"/>
      </p:ext>
    </p:extLst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sz="3600" b="1" dirty="0" err="1">
                <a:solidFill>
                  <a:srgbClr val="0070C0"/>
                </a:solidFill>
              </a:rPr>
              <a:t>BootStrap</a:t>
            </a:r>
            <a:r>
              <a:rPr lang="en-US" sz="3600" b="1" dirty="0">
                <a:solidFill>
                  <a:srgbClr val="0070C0"/>
                </a:solidFill>
              </a:rPr>
              <a:t> breakpoints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Breakpoints</a:t>
            </a: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https://getbootstrap.com/docs/5.0/layout/breakpoints/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Sistema de Grids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447675" lvl="1" indent="0" algn="just">
              <a:buNone/>
            </a:pPr>
            <a:r>
              <a:rPr lang="pt-BR" sz="2400" dirty="0">
                <a:solidFill>
                  <a:srgbClr val="0000FF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https://getbootstrap.com/docs/4.0/layout/grid/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136328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acrescentar: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'./styles.css’;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"https://www.themoviedb.org/t/p/w533_and_h300_bestv2/jBJWaqoSCiARWtfV0GlqHrcdidd.jpg",</a:t>
            </a:r>
          </a:p>
        </p:txBody>
      </p:sp>
    </p:spTree>
    <p:extLst>
      <p:ext uri="{BB962C8B-B14F-4D97-AF65-F5344CB8AC3E}">
        <p14:creationId xmlns:p14="http://schemas.microsoft.com/office/powerpoint/2010/main" val="1999182495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"The Witcher",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4.5,  };</a:t>
            </a:r>
          </a:p>
          <a:p>
            <a:pPr marL="447675" lvl="1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		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bottom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</p:txBody>
      </p:sp>
    </p:spTree>
    <p:extLst>
      <p:ext uri="{BB962C8B-B14F-4D97-AF65-F5344CB8AC3E}">
        <p14:creationId xmlns:p14="http://schemas.microsoft.com/office/powerpoint/2010/main" val="2473765051"/>
      </p:ext>
    </p:extLst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"&gt;Informe seu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&lt;input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form-control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id="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/&gt;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	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dsmovie-form-group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891540" lvl="2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="score"&gt;Informe sua avaliação&lt;/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id="score"&gt;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&gt;1&lt;/option&gt;</a:t>
            </a:r>
          </a:p>
          <a:p>
            <a:pPr marL="2308860" lvl="5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&gt;2&lt;/option&gt;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22720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&gt;3&lt;/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&gt;4&lt;/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&gt;5&lt;/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</p:txBody>
      </p:sp>
    </p:spTree>
    <p:extLst>
      <p:ext uri="{BB962C8B-B14F-4D97-AF65-F5344CB8AC3E}">
        <p14:creationId xmlns:p14="http://schemas.microsoft.com/office/powerpoint/2010/main" val="962145897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Form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=“/”&gt;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btn-primary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mt-3"&gt;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Cancelar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&lt;/Link&gt;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440057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substituir: 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lugar de: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&gt;Página Web&lt;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/h1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 arquivo ficar, assim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';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3214958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inicia a configuração das rotas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path="/"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/&gt;} /&gt;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1384300" lvl="3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	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path=":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/&gt;} /&gt;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subrota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 &lt;/</a:t>
            </a:r>
            <a:r>
              <a:rPr lang="pt-BR" sz="2000" b="1" dirty="0" err="1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91540" lvl="2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&lt;/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929151"/>
      </p:ext>
    </p:extLst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App.tsx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447675" lvl="1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BrowserRouter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//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Continuando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App.tsx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Para testar as rotas,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digite no browser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http://localhost:3000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rota 1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http://localhost:3000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/form/1 // rota 2</a:t>
            </a:r>
          </a:p>
        </p:txBody>
      </p:sp>
    </p:spTree>
    <p:extLst>
      <p:ext uri="{BB962C8B-B14F-4D97-AF65-F5344CB8AC3E}">
        <p14:creationId xmlns:p14="http://schemas.microsoft.com/office/powerpoint/2010/main" val="3987537811"/>
      </p:ext>
    </p:extLst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Netlify Deploy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12260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Implantação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arquivo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redirects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conteúdo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/* /index.html 200    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usado pelo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conta no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https://www.netlify.com/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depois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efetuar login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Sites,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new site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Selecionar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Autorizar login/senha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4.1.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directory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frontend</a:t>
            </a: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4.2.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command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 build</a:t>
            </a: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4.3.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Publish directory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frontend/build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Acompanhar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Menu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overview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280246"/>
      </p:ext>
    </p:extLst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 – Netlify Deploy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Ajustes: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settings</a:t>
            </a: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Management</a:t>
            </a:r>
          </a:p>
          <a:p>
            <a:pPr marL="457200" indent="-457200" algn="just">
              <a:buAutoNum type="arabicPeriod"/>
            </a:pP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Options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altere o nome do site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buAutoNum type="arabicPeriod"/>
            </a:pP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Deploys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Trigger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5668070"/>
      </p:ext>
    </p:extLst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Integração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Back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Três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pilares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ReactJS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dinâmico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371667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entre com o terminal root, Instalar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axios@0.24.0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fazer requisições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dentro de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Criar o arquivo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requests.js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(arquivo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TypeScript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com o seguinte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conteúdo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const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process.env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?? "http://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localhost:8092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 (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??,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Operador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coalescência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nula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Este arquivo, através da variável,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REACT_APP_BACKEND_URL,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irá realizar à integração do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Front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 o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caso não exista a variável, será realizada um acesso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servidor LOCAL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54996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retornos da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REST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criar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com o conteúdo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seguir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id 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score: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459504430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 ];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last: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totalPages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totalElements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size: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number: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first: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numberOfElements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empty: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}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6374629"/>
      </p:ext>
    </p:extLst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Testando 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requisição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através da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promises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arquivo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antes do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função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inserir a seguinte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instrução:</a:t>
            </a:r>
          </a:p>
          <a:p>
            <a:pPr marL="0" indent="0" algn="just">
              <a:buNone/>
            </a:pPr>
            <a:endParaRPr lang="pt-BR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 Errada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retorna vários objetos (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Solução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axios.get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http://localhost:8092/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=0").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console.log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 // Acesso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assíncrono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168987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Integração</a:t>
            </a:r>
            <a:r>
              <a:rPr lang="en-US" b="1" dirty="0">
                <a:solidFill>
                  <a:srgbClr val="0070C0"/>
                </a:solidFill>
              </a:rPr>
              <a:t> Front + Back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Utilizar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variável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definida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requests.ts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en-US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../../utils/requests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BASE_URL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=12&amp;page=0`).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inspecionar no browser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 necessário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instalar a dependência,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save-dev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webpack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https://webpack.js.org/guides/installation/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https://webpack.js.org/concepts/#loaders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</a:p>
        </p:txBody>
      </p:sp>
    </p:spTree>
    <p:extLst>
      <p:ext uri="{BB962C8B-B14F-4D97-AF65-F5344CB8AC3E}">
        <p14:creationId xmlns:p14="http://schemas.microsoft.com/office/powerpoint/2010/main" val="1363663828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</a:t>
            </a: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6874864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Hooks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funções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cujo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comportamento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está vinculado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ao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ciclo de vida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partir de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componentes funcionais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Mantêm o estado do componente;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Executar algo na instanciação ou destruição do componente, observar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Utilizar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parâmetros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é passado pela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Navegação.	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Nota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https://pt-br.reactjs.org/docs/hooks-overview.html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288626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useState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Na pasta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acrescentar, antes do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estado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função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que controla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iniciou na Pag. ZERO.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testar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tag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</a:t>
            </a:r>
          </a:p>
        </p:txBody>
      </p:sp>
    </p:spTree>
    <p:extLst>
      <p:ext uri="{BB962C8B-B14F-4D97-AF65-F5344CB8AC3E}">
        <p14:creationId xmlns:p14="http://schemas.microsoft.com/office/powerpoint/2010/main" val="123315772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useState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página ZERO.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`).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 &gt;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}</a:t>
            </a:r>
          </a:p>
        </p:txBody>
      </p:sp>
    </p:spTree>
    <p:extLst>
      <p:ext uri="{BB962C8B-B14F-4D97-AF65-F5344CB8AC3E}">
        <p14:creationId xmlns:p14="http://schemas.microsoft.com/office/powerpoint/2010/main" val="3937050215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useEffect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49630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página ZERO.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 ) =&gt; { 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}`)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		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47675" lvl="1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  		//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	});</a:t>
            </a:r>
          </a:p>
          <a:p>
            <a:pPr marL="447675" lvl="1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}, [ ]);	</a:t>
            </a:r>
          </a:p>
          <a:p>
            <a:pPr marL="447675" lvl="1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(&lt; &gt; &lt;p&gt;{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}&lt;/p&gt;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);    }</a:t>
            </a:r>
          </a:p>
        </p:txBody>
      </p:sp>
    </p:spTree>
    <p:extLst>
      <p:ext uri="{BB962C8B-B14F-4D97-AF65-F5344CB8AC3E}">
        <p14:creationId xmlns:p14="http://schemas.microsoft.com/office/powerpoint/2010/main" val="387408603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argumentos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https://pt-br.reactjs.org/docs/components-and-props.html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Em uma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renderização dinâmica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coleção,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cada elemento renderizado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possuir um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atributo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95158885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4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) {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...</a:t>
            </a:r>
          </a:p>
        </p:txBody>
      </p:sp>
    </p:spTree>
    <p:extLst>
      <p:ext uri="{BB962C8B-B14F-4D97-AF65-F5344CB8AC3E}">
        <p14:creationId xmlns:p14="http://schemas.microsoft.com/office/powerpoint/2010/main" val="2172234501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 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/*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id: 1,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"https://www.themoviedb.org/t/p/w533_and_h300_bestv2/jBJWaqoSCiARWtfV0GlqHrcdidd.jpg",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Juju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2,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score: 4.5,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};*/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807151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FORMA ERRADA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("http://localhost:8092/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=12&amp;page=0").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(response =&gt; {console.log(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);});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estado;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função que controla o estado.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(0); // seta na página ZERO.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</a:p>
        </p:txBody>
      </p:sp>
    </p:spTree>
    <p:extLst>
      <p:ext uri="{BB962C8B-B14F-4D97-AF65-F5344CB8AC3E}">
        <p14:creationId xmlns:p14="http://schemas.microsoft.com/office/powerpoint/2010/main" val="1637213217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24578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&gt;({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[],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totalPages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totalElements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size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12,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numberOfElements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empty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</a:p>
        </p:txBody>
      </p:sp>
    </p:spTree>
    <p:extLst>
      <p:ext uri="{BB962C8B-B14F-4D97-AF65-F5344CB8AC3E}">
        <p14:creationId xmlns:p14="http://schemas.microsoft.com/office/powerpoint/2010/main" val="2788266061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(() =&gt; {//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movies?size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=12&amp;page=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}&amp;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((response) =&gt;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.data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// casting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//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.log(data);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data.number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(data);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}, [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pageNumber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2339443429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Props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24578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//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 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row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	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page.content.map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{movie.id}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="col-sm-6 col-lg-4 col-xl-3 mb-3"&gt;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		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		&lt;/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	} ) } ...</a:t>
            </a:r>
          </a:p>
        </p:txBody>
      </p:sp>
    </p:spTree>
    <p:extLst>
      <p:ext uri="{BB962C8B-B14F-4D97-AF65-F5344CB8AC3E}">
        <p14:creationId xmlns:p14="http://schemas.microsoft.com/office/powerpoint/2010/main" val="874176908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pasta/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Link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BASE_URL }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requests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'./styles.css';</a:t>
            </a:r>
          </a:p>
        </p:txBody>
      </p:sp>
    </p:spTree>
    <p:extLst>
      <p:ext uri="{BB962C8B-B14F-4D97-AF65-F5344CB8AC3E}">
        <p14:creationId xmlns:p14="http://schemas.microsoft.com/office/powerpoint/2010/main" val="897066118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847218286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{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Props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/*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id: 1,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image: "https://www.themoviedb.org/t/p/w533_and_h300_bestv2/jBJWaqoSCiARWtfV0GlqHrcdidd.jpg",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title: "Juju",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count: 2,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score: 4.5,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}; */</a:t>
            </a:r>
          </a:p>
        </p:txBody>
      </p:sp>
    </p:spTree>
    <p:extLst>
      <p:ext uri="{BB962C8B-B14F-4D97-AF65-F5344CB8AC3E}">
        <p14:creationId xmlns:p14="http://schemas.microsoft.com/office/powerpoint/2010/main" val="2143774893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navigate =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[movie,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&lt;Movie&gt;();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useEffect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(() =&gt;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.get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(`${BASE_URL}/movies/${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}`).then(response =&gt;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//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console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.log(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}, [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824366600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-movie-card-image"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alt={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-card-bottom-container"&gt;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h3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- 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?.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}&lt;/h3&gt;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-form"&gt;</a:t>
            </a:r>
          </a:p>
        </p:txBody>
      </p:sp>
    </p:spTree>
    <p:extLst>
      <p:ext uri="{BB962C8B-B14F-4D97-AF65-F5344CB8AC3E}">
        <p14:creationId xmlns:p14="http://schemas.microsoft.com/office/powerpoint/2010/main" val="1321137612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="form-group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-form-group"&gt;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="email"&gt;Informe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seu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email&lt;/label&gt;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type="email"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id="email"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="form-group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-form-group"&gt;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label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="score"&gt;Informe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sua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avaliação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&lt;/label&gt;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6742398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&lt;select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="form-control" id="score"&gt;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&lt;option&gt;1&lt;/option&gt;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&lt;option&gt;2&lt;/option&gt;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&lt;option&gt;3&lt;/option&gt;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&lt;option&gt;4&lt;/option&gt;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&lt;option&gt;5&lt;/option&gt;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&lt;/select&gt;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&lt;/div&gt; </a:t>
            </a:r>
          </a:p>
        </p:txBody>
      </p:sp>
    </p:spTree>
    <p:extLst>
      <p:ext uri="{BB962C8B-B14F-4D97-AF65-F5344CB8AC3E}">
        <p14:creationId xmlns:p14="http://schemas.microsoft.com/office/powerpoint/2010/main" val="3315373838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-form-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type="submit"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-primary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Salvar</a:t>
            </a: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&lt;/form&gt;</a:t>
            </a:r>
          </a:p>
        </p:txBody>
      </p:sp>
    </p:spTree>
    <p:extLst>
      <p:ext uri="{BB962C8B-B14F-4D97-AF65-F5344CB8AC3E}">
        <p14:creationId xmlns:p14="http://schemas.microsoft.com/office/powerpoint/2010/main" val="1139853378"/>
      </p:ext>
    </p:extLst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37311"/>
            <a:ext cx="8865056" cy="406078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to="/"&gt;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&lt;button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-primary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dsmovie-btn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mt-3"&gt;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Cancelar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&lt;/Link&gt;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797483993"/>
      </p:ext>
    </p:extLst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useParams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São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parâmetros passados pela URL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componente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</a:t>
            </a:r>
          </a:p>
        </p:txBody>
      </p:sp>
    </p:spTree>
    <p:extLst>
      <p:ext uri="{BB962C8B-B14F-4D97-AF65-F5344CB8AC3E}">
        <p14:creationId xmlns:p14="http://schemas.microsoft.com/office/powerpoint/2010/main" val="1643372205"/>
      </p:ext>
    </p:extLst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React Hooks </a:t>
            </a:r>
            <a:r>
              <a:rPr lang="en-US" b="1" dirty="0" err="1">
                <a:solidFill>
                  <a:srgbClr val="0070C0"/>
                </a:solidFill>
              </a:rPr>
              <a:t>useParams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arquivo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-dom";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useParams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={`${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params.filmeId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}`}/&gt;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2570686632"/>
      </p:ext>
    </p:extLst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score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StarProps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fill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043179"/>
      </p:ext>
    </p:extLst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(3.5) =&gt; [1, 1, 1, 0.5, 0]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testar no console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(Browser)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(4.1) =&gt; [1, 1, 1, 1, 0.5]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testar no console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(Browser)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[0, 0, 0, 0, 0];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Math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floor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(score);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 = 0; i &lt;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i++)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[i] = 1;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320569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score - 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&gt; 0) {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pt-BR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integerPart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0.5;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6863358"/>
      </p:ext>
    </p:extLst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62156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Component Star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criado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internamente</a:t>
            </a: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{ fill } :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StarProps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fill === 0 )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StarEmpty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  }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if ( fill === 1 ) 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StarFull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 }  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else {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&lt;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StarHalf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  }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88696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MovieStars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62156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score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(score);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-stars-container"&gt;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[2]}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[3]}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&lt;Star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fills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[4]}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 }</a:t>
            </a: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7782665"/>
      </p:ext>
    </p:extLst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score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count : number;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068160"/>
      </p:ext>
    </p:extLst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MovieScore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score,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3.5;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13;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-score-container"&gt;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&lt;p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 {score&gt;0 ?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score.toFixed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(1):"-"} &lt;/p&gt;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MovieStars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{ score 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&lt;p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-score-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"&gt;{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avaliações&lt;/p&gt;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 	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7502811"/>
      </p:ext>
    </p:extLst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movie:  Movie;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51728"/>
      </p:ext>
    </p:extLst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MovieCard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MovieScore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movie.score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movie.count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...</a:t>
            </a:r>
          </a:p>
        </p:txBody>
      </p:sp>
    </p:spTree>
    <p:extLst>
      <p:ext uri="{BB962C8B-B14F-4D97-AF65-F5344CB8AC3E}">
        <p14:creationId xmlns:p14="http://schemas.microsoft.com/office/powerpoint/2010/main" val="598948250"/>
      </p:ext>
    </p:extLst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"types/movie";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type Props =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page :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MoviePage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Function;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 Pagination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{page,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: Props )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endParaRPr 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8931382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 Pagination(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{page,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: Props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-pagination-container"&gt;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-pagination-box"&gt;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-pagination-button"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page.first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onClick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) =&gt;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(page.number-1)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&lt;/button&gt;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`${page.number+1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$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page.totalPages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}`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&lt;/p&gt;</a:t>
            </a:r>
          </a:p>
        </p:txBody>
      </p:sp>
    </p:spTree>
    <p:extLst>
      <p:ext uri="{BB962C8B-B14F-4D97-AF65-F5344CB8AC3E}">
        <p14:creationId xmlns:p14="http://schemas.microsoft.com/office/powerpoint/2010/main" val="1652035543"/>
      </p:ext>
    </p:extLst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-Pagination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	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button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-pagination-button"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disabled={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page.last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onClick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={( ) =&gt;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(page.number+1)}&gt;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Arrow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-flip-horizontal" /&gt;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&lt;/button&gt;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&lt;/div&gt;</a:t>
            </a:r>
          </a:p>
          <a:p>
            <a:pPr marL="447675" lvl="1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&lt;/div&gt;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);</a:t>
            </a:r>
          </a:p>
          <a:p>
            <a:pPr marL="0" indent="0" algn="just">
              <a:buNone/>
            </a:pP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default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194077630"/>
      </p:ext>
    </p:extLst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-Listing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974681"/>
            <a:ext cx="8865056" cy="4123411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depois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Listing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Método que irá controlar a mudança de página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handlePageChange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newPageNumber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 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Pagination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handlePageChange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...</a:t>
            </a:r>
          </a:p>
        </p:txBody>
      </p:sp>
    </p:spTree>
    <p:extLst>
      <p:ext uri="{BB962C8B-B14F-4D97-AF65-F5344CB8AC3E}">
        <p14:creationId xmlns:p14="http://schemas.microsoft.com/office/powerpoint/2010/main" val="59915052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-Utils (</a:t>
            </a:r>
            <a:r>
              <a:rPr lang="en-US" b="1" dirty="0" err="1">
                <a:solidFill>
                  <a:srgbClr val="0070C0"/>
                </a:solidFill>
              </a:rPr>
              <a:t>validade.ts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1"/>
            <a:ext cx="8865056" cy="403572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 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validade.ts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 pasta,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com o seguinte conteúdo...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https://stackoverflow.com/questions/46155/whats-the-best-way-to-validate-an-email-address-in-javascript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export function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validateEmail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(email: any) {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return String(email)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toLowerCase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.match(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/^(([^&lt;&gt;()[\]\\.,;:\s@"]+(\.[^&lt;&gt;()[\]\\.,;:\s@"]+)*)|(".+"))@((\[[0-9]{1,3}\.[0-9]{1,3}\.[0-9]{1,3}\.[0-9]{1,3}\])|(([a-zA-Z\-0-9]+\.)+[a-zA-Z]{2,}))$/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);</a:t>
            </a:r>
          </a:p>
          <a:p>
            <a:pPr marL="0" indent="0" algn="just">
              <a:buNone/>
            </a:pP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  <a:endParaRPr lang="pt-BR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516403"/>
      </p:ext>
    </p:extLst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Salvando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 score.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Alterações no arq.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index.tsx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componente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Destaque em vermelho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Acrescentar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AxiosRequestConfig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</a:p>
          <a:p>
            <a:pPr marL="0" indent="0" algn="just">
              <a:buNone/>
            </a:pP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React.FormEvent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HTMLFormElement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&gt;)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event.preventDefault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// Impede que o formulário seja enviado.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event.target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email.value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 = 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event.target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as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any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score.value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//console.log(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score);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9382280"/>
      </p:ext>
    </p:extLst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 !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validateEmail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)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767658"/>
      </p:ext>
    </p:extLst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AxiosRequestConfig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baseURL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BASE_URL,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'PUT',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url: '/scores',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data: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score: score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}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6607342"/>
      </p:ext>
    </p:extLst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//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Requisição de PUT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(response =&gt; {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//console.log(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response.data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("/");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})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}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antes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 RETURN da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477770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dentro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="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dsmovie-form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={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handleSubmit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...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035004"/>
      </p:ext>
    </p:extLst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Fontend</a:t>
            </a:r>
            <a:r>
              <a:rPr lang="en-US" b="1" dirty="0">
                <a:solidFill>
                  <a:srgbClr val="0070C0"/>
                </a:solidFill>
              </a:rPr>
              <a:t>-</a:t>
            </a:r>
            <a:r>
              <a:rPr lang="en-US" b="1" dirty="0" err="1">
                <a:solidFill>
                  <a:srgbClr val="0070C0"/>
                </a:solidFill>
              </a:rPr>
              <a:t>FormCard</a:t>
            </a:r>
            <a:r>
              <a:rPr lang="en-US" b="1" dirty="0">
                <a:solidFill>
                  <a:srgbClr val="0070C0"/>
                </a:solidFill>
              </a:rPr>
              <a:t> (</a:t>
            </a:r>
            <a:r>
              <a:rPr lang="en-US" b="1" dirty="0" err="1">
                <a:solidFill>
                  <a:srgbClr val="0070C0"/>
                </a:solidFill>
              </a:rPr>
              <a:t>index.tsx</a:t>
            </a:r>
            <a:r>
              <a:rPr lang="en-US" b="1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// depois da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function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FormCard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[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] =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useState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Movie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&gt;();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//console.log(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filmeId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</a:t>
            </a: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...</a:t>
            </a:r>
          </a:p>
          <a:p>
            <a:pPr marL="0" indent="0" algn="just">
              <a:buNone/>
            </a:pP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Nota: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acrescentar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 { Link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useNavigate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} from "react-router-</a:t>
            </a:r>
            <a:r>
              <a:rPr lang="en-US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</a:t>
            </a: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";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184935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JAVA-</a:t>
            </a:r>
            <a:r>
              <a:rPr lang="en-US" b="1" dirty="0" err="1">
                <a:solidFill>
                  <a:srgbClr val="0070C0"/>
                </a:solidFill>
              </a:rPr>
              <a:t>Integrar</a:t>
            </a:r>
            <a:r>
              <a:rPr lang="en-US" b="1" dirty="0">
                <a:solidFill>
                  <a:srgbClr val="0070C0"/>
                </a:solidFill>
              </a:rPr>
              <a:t> Netlify-&gt;Heroku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Configurar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variável de ambiente,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para que o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na opção:</a:t>
            </a:r>
          </a:p>
          <a:p>
            <a:pPr marL="0" indent="0" algn="just">
              <a:buNone/>
            </a:pP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 Settings</a:t>
            </a:r>
          </a:p>
          <a:p>
            <a:pPr marL="904875" lvl="1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&amp;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4875" lvl="1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Environment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 Criar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tb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REACT_APP_BACKEND_URL</a:t>
            </a:r>
            <a:endParaRPr lang="pt-BR" sz="2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no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Heroku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endereço do Back </a:t>
            </a:r>
            <a:r>
              <a:rPr lang="pt-BR" sz="2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 / no final</a:t>
            </a:r>
          </a:p>
          <a:p>
            <a:pPr marL="1348740" lvl="2" indent="-457200" algn="just">
              <a:buAutoNum type="arabicPeriod"/>
            </a:pP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Save</a:t>
            </a:r>
            <a:endParaRPr lang="pt-BR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AutoNum type="arabicPeriod"/>
            </a:pP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Menu </a:t>
            </a:r>
            <a:r>
              <a:rPr lang="pt-BR" sz="2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Trigger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</a:t>
            </a:r>
            <a:r>
              <a:rPr lang="pt-BR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Deploy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Site (</a:t>
            </a:r>
            <a:r>
              <a:rPr lang="pt-BR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Site </a:t>
            </a:r>
            <a:r>
              <a:rPr lang="pt-BR" sz="2000" b="1" dirty="0" err="1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pt-BR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live</a:t>
            </a: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implantado).</a:t>
            </a:r>
          </a:p>
        </p:txBody>
      </p:sp>
    </p:spTree>
    <p:extLst>
      <p:ext uri="{BB962C8B-B14F-4D97-AF65-F5344CB8AC3E}">
        <p14:creationId xmlns:p14="http://schemas.microsoft.com/office/powerpoint/2010/main" val="4184699535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Implantado</a:t>
            </a:r>
            <a:r>
              <a:rPr lang="en-US" b="1" dirty="0">
                <a:solidFill>
                  <a:srgbClr val="0070C0"/>
                </a:solidFill>
              </a:rPr>
              <a:t> App Web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Acessar o </a:t>
            </a:r>
            <a:r>
              <a:rPr lang="pt-BR" sz="2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Netlify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identificar a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 sua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 web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 executar no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			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dsfilmes-heleno.netlify.app/</a:t>
            </a: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Anexos </a:t>
            </a: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pasta 07 CSS.</a:t>
            </a:r>
          </a:p>
        </p:txBody>
      </p:sp>
    </p:spTree>
    <p:extLst>
      <p:ext uri="{BB962C8B-B14F-4D97-AF65-F5344CB8AC3E}">
        <p14:creationId xmlns:p14="http://schemas.microsoft.com/office/powerpoint/2010/main" val="4079207429"/>
      </p:ext>
    </p:extLst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JAVA – </a:t>
            </a:r>
            <a:r>
              <a:rPr lang="en-US" b="1" dirty="0" err="1">
                <a:solidFill>
                  <a:srgbClr val="0070C0"/>
                </a:solidFill>
              </a:rPr>
              <a:t>Créditos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Finais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Agradecimentos Especiais para:</a:t>
            </a:r>
          </a:p>
          <a:p>
            <a:pPr marL="0" indent="0" algn="ctr">
              <a:buNone/>
            </a:pP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Professor </a:t>
            </a:r>
            <a:r>
              <a:rPr lang="pt-BR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Nélio Alves, </a:t>
            </a:r>
            <a:r>
              <a:rPr lang="pt-BR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Em Engenharia de Software</a:t>
            </a:r>
            <a:endParaRPr lang="pt-BR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pt-BR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pt-BR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Pela referência e inspiração na elaboração deste material didático.</a:t>
            </a:r>
          </a:p>
        </p:txBody>
      </p:sp>
    </p:spTree>
    <p:extLst>
      <p:ext uri="{BB962C8B-B14F-4D97-AF65-F5344CB8AC3E}">
        <p14:creationId xmlns:p14="http://schemas.microsoft.com/office/powerpoint/2010/main" val="2233018905"/>
      </p:ext>
    </p:extLst>
  </p:cSld>
  <p:clrMapOvr>
    <a:masterClrMapping/>
  </p:clrMapOvr>
  <p:transition spd="med"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2261"/>
            <a:ext cx="8865056" cy="38353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Disponível 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https://iopscience.iop.org/article/10.1088/1742-6596/1933/1/012041/pdf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autoprefixer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Replace color-adjust to print-color-adjust. The color-adjust shorthand is currently deprecated.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npm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install autoprefixer@10.4.5 --save-exact</a:t>
            </a:r>
            <a:endParaRPr lang="pt-BR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W3Schools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Disponível em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https://www.w3school-learn.com/2021/12/spring-boot-starter-tutorial.html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https://www.youtube.com/watch?v=DKW6IlUrxG8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https://www.javatpoint.com/spring-boot-download-and-install-sts-ide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https://pt-br.reactjs.org/</a:t>
            </a: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606305"/>
          </a:xfrm>
        </p:spPr>
        <p:txBody>
          <a:bodyPr>
            <a:noAutofit/>
          </a:bodyPr>
          <a:lstStyle/>
          <a:p>
            <a:pPr algn="just">
              <a:buFontTx/>
              <a:buChar char="-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Exercícios de Fixação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Desafio em Sala de </a:t>
            </a:r>
            <a:r>
              <a:rPr lang="pt-BR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Aula</a:t>
            </a:r>
            <a:r>
              <a:rPr lang="pt-BR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Quiz JAVA</a:t>
            </a:r>
          </a:p>
          <a:p>
            <a:pPr marL="0" indent="0" algn="just">
              <a:buNone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https://www.w3schools.com/java/java_quiz.asp</a:t>
            </a: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652989"/>
      </p:ext>
    </p:extLst>
  </p:cSld>
  <p:clrMapOvr>
    <a:masterClrMapping/>
  </p:clrMapOvr>
  <p:transition spd="med"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WALLS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Craig. Spring Boot in action. Simon and Schuster, 2015.</a:t>
            </a:r>
          </a:p>
          <a:p>
            <a:pPr marL="0" indent="0" algn="just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REDDY, K. Siva Prasad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Beginning Spring Boot 2: Applications and microservices with the Spring framework.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Apress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2017.</a:t>
            </a:r>
          </a:p>
          <a:p>
            <a:pPr marL="0" indent="0" algn="just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https://spring.io/tools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Desenvolvimento de Software 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15371</TotalTime>
  <Words>7620</Words>
  <Application>Microsoft Office PowerPoint</Application>
  <PresentationFormat>Apresentação na tela (16:9)</PresentationFormat>
  <Paragraphs>1058</Paragraphs>
  <Slides>114</Slides>
  <Notes>111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114</vt:i4>
      </vt:variant>
    </vt:vector>
  </HeadingPairs>
  <TitlesOfParts>
    <vt:vector size="119" baseType="lpstr">
      <vt:lpstr>Arial</vt:lpstr>
      <vt:lpstr>Calibri</vt:lpstr>
      <vt:lpstr>Times New Roman</vt:lpstr>
      <vt:lpstr>Wingdings</vt:lpstr>
      <vt:lpstr>Office Theme</vt:lpstr>
      <vt:lpstr>Desenvolvimento de Software  JAVA</vt:lpstr>
      <vt:lpstr> Aulas 13 JAVA Projeto Web  Arquitetura MVC  Versionamento Git  Projeto Monorepo: Front e Back  Front end React</vt:lpstr>
      <vt:lpstr>JAVA – Modelo MVC JAVA</vt:lpstr>
      <vt:lpstr>JAVA – Arquitetura MVC</vt:lpstr>
      <vt:lpstr>JAVA – Versionamento Git</vt:lpstr>
      <vt:lpstr>JAVA – NPM vs NPX</vt:lpstr>
      <vt:lpstr>JAVA – Ambiente Frontend</vt:lpstr>
      <vt:lpstr>JAVA – Ambiente Frontend</vt:lpstr>
      <vt:lpstr>JAVA – Frontend</vt:lpstr>
      <vt:lpstr>JAVA – Testando Frontend</vt:lpstr>
      <vt:lpstr>JAVA – Ambiente Backend</vt:lpstr>
      <vt:lpstr>JAVA – Testanto Backend</vt:lpstr>
      <vt:lpstr>JAVA – Testanto Backend/pom.xml</vt:lpstr>
      <vt:lpstr>JAVA – Fontend – Extensões</vt:lpstr>
      <vt:lpstr>JAVA – Fontend – Bibliotecas</vt:lpstr>
      <vt:lpstr>JAVA – Fontend – Pasta Public</vt:lpstr>
      <vt:lpstr>JAVA – Fontend – Pasta Src</vt:lpstr>
      <vt:lpstr>JAVA – Fontend – Revisar App.tsx</vt:lpstr>
      <vt:lpstr>JAVA – Fontend – Revisar index.tsx</vt:lpstr>
      <vt:lpstr>JAVA – Fontend – Testando</vt:lpstr>
      <vt:lpstr>JAVA – Fontend – Bootstrap</vt:lpstr>
      <vt:lpstr>JAVA – Fontend – index.tsx</vt:lpstr>
      <vt:lpstr>JAVA – Fontend – index.css (Incluir)</vt:lpstr>
      <vt:lpstr>JAVA – Fontend – index.css (…)</vt:lpstr>
      <vt:lpstr>JAVA – Fontend</vt:lpstr>
      <vt:lpstr>JAVA – Fontend</vt:lpstr>
      <vt:lpstr>JAVA – Fontend</vt:lpstr>
      <vt:lpstr>JAVA – Fontend – Navbar (index.tsx)</vt:lpstr>
      <vt:lpstr>JAVA – Fontend – Navbar (index.tsx)</vt:lpstr>
      <vt:lpstr>JAVA – Fontend – Navbar (index.tsx)</vt:lpstr>
      <vt:lpstr>JAVA – Fontend – Router-Dom</vt:lpstr>
      <vt:lpstr>JAVA-Fontend-MovieCard (index.tsx)</vt:lpstr>
      <vt:lpstr>JAVA-Fontend-MovieCard (index.tsx)</vt:lpstr>
      <vt:lpstr>JAVA-Fontend-MovieCard (index.tsx)</vt:lpstr>
      <vt:lpstr>JAVA-Fontend-MovieCard (index.tsx)</vt:lpstr>
      <vt:lpstr>JAVA-Fontend-MovieScore (index.tsx)</vt:lpstr>
      <vt:lpstr>JAVA-Fontend-MovieScore (index.tsx)</vt:lpstr>
      <vt:lpstr>JAVA–Fontend–MovieStars (index.tsx)</vt:lpstr>
      <vt:lpstr>JAVA–Fontend–MovieStars (index.tsx)</vt:lpstr>
      <vt:lpstr>JAVA–Fontend–Pagination (index.tsx)</vt:lpstr>
      <vt:lpstr>JAVA–Fontend–Pagination (index.tsx)</vt:lpstr>
      <vt:lpstr>JAVA–Fontend–Pagination (index.tsx)</vt:lpstr>
      <vt:lpstr>JAVA – Fontend – Listing (index.tsx)</vt:lpstr>
      <vt:lpstr>JAVA – Fontend – Listing (index.tsx)</vt:lpstr>
      <vt:lpstr>JAVA – Fontend – Listing (index.tsx)</vt:lpstr>
      <vt:lpstr>JAVA – Fontend – Listing (index.tsx)</vt:lpstr>
      <vt:lpstr>JAVA – Fontend – BootStrap breakpoints</vt:lpstr>
      <vt:lpstr>JAVA – Fontend – Form (index.tsx)</vt:lpstr>
      <vt:lpstr>JAVA – Fontend – Form (index.tsx)</vt:lpstr>
      <vt:lpstr>JAVA – Fontend – Form (index.tsx)</vt:lpstr>
      <vt:lpstr>JAVA – Fontend – Form (index.tsx)</vt:lpstr>
      <vt:lpstr>JAVA – Fontend – Form (index.tsx)</vt:lpstr>
      <vt:lpstr>JAVA – Fontend – App.tsx</vt:lpstr>
      <vt:lpstr>JAVA – Fontend – App.tsx</vt:lpstr>
      <vt:lpstr>JAVA – Fontend – App.tsx</vt:lpstr>
      <vt:lpstr>JAVA – Fontend – Netlify Deploy</vt:lpstr>
      <vt:lpstr>JAVA – Fontend – Netlify Deploy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Integração Front + Back</vt:lpstr>
      <vt:lpstr>JAVA – React</vt:lpstr>
      <vt:lpstr>JAVA – React Hooks</vt:lpstr>
      <vt:lpstr>JAVA – React Hooks useState</vt:lpstr>
      <vt:lpstr>JAVA – React Hooks useState</vt:lpstr>
      <vt:lpstr>JAVA – React Hooks useEffect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 – React Hooks Props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 – React Hooks useParams</vt:lpstr>
      <vt:lpstr>JAVA – React Hooks useParams</vt:lpstr>
      <vt:lpstr>JAVA-Fontend-MovieStars (index.tsx)</vt:lpstr>
      <vt:lpstr>JAVA-Fontend-MovieStars (index.tsx)</vt:lpstr>
      <vt:lpstr>JAVA-Fontend-MovieStars (index.tsx)</vt:lpstr>
      <vt:lpstr>JAVA-Fontend-MovieStars (index.tsx)</vt:lpstr>
      <vt:lpstr>JAVA-Fontend-MovieStars (index.tsx)</vt:lpstr>
      <vt:lpstr>JAVA-Fontend-MovieScore (index.tsx)</vt:lpstr>
      <vt:lpstr>JAVA-Fontend-MovieScore (index.tsx)</vt:lpstr>
      <vt:lpstr>JAVA-Fontend-MovieCard (index.tsx)</vt:lpstr>
      <vt:lpstr>JAVA-Fontend-MovieCard (index.tsx)</vt:lpstr>
      <vt:lpstr>JAVA-Fontend-Pagination (index.tsx)</vt:lpstr>
      <vt:lpstr>JAVA-Fontend-Pagination (index.tsx)</vt:lpstr>
      <vt:lpstr>JAVA-Fontend-Pagination (index.tsx)</vt:lpstr>
      <vt:lpstr>JAVA-Fontend-Listing (index.tsx)</vt:lpstr>
      <vt:lpstr>JAVA-Fontend-Utils (validade.ts)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JAVA-Fontend-FormCard (index.tsx)</vt:lpstr>
      <vt:lpstr>JAVA-Integrar Netlify-&gt;Heroku</vt:lpstr>
      <vt:lpstr>JAVA – Implantado App Web</vt:lpstr>
      <vt:lpstr>JAVA – Créditos Finais</vt:lpstr>
      <vt:lpstr>Leitura Específica</vt:lpstr>
      <vt:lpstr>Aprenda+</vt:lpstr>
      <vt:lpstr>Dinâmica/Atividades</vt:lpstr>
      <vt:lpstr>Referências Bibliográficas</vt:lpstr>
      <vt:lpstr>Desenvolvimento de Software  JAVA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</cp:lastModifiedBy>
  <cp:revision>1987</cp:revision>
  <dcterms:created xsi:type="dcterms:W3CDTF">2020-03-17T20:12:34Z</dcterms:created>
  <dcterms:modified xsi:type="dcterms:W3CDTF">2022-08-25T22:02:35Z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