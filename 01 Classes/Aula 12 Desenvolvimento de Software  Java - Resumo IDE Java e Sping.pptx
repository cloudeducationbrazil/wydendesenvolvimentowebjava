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91" r:id="rId3"/>
    <p:sldId id="396" r:id="rId4"/>
    <p:sldId id="397" r:id="rId5"/>
    <p:sldId id="398" r:id="rId6"/>
    <p:sldId id="399" r:id="rId7"/>
    <p:sldId id="400" r:id="rId8"/>
    <p:sldId id="402" r:id="rId9"/>
    <p:sldId id="401" r:id="rId10"/>
    <p:sldId id="403" r:id="rId11"/>
    <p:sldId id="404" r:id="rId12"/>
    <p:sldId id="406" r:id="rId13"/>
    <p:sldId id="407" r:id="rId14"/>
    <p:sldId id="405" r:id="rId15"/>
    <p:sldId id="408" r:id="rId16"/>
    <p:sldId id="333" r:id="rId17"/>
    <p:sldId id="323" r:id="rId18"/>
    <p:sldId id="334" r:id="rId19"/>
    <p:sldId id="337" r:id="rId20"/>
    <p:sldId id="309" r:id="rId21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76" autoAdjust="0"/>
    <p:restoredTop sz="83649" autoAdjust="0"/>
  </p:normalViewPr>
  <p:slideViewPr>
    <p:cSldViewPr snapToGrid="0">
      <p:cViewPr varScale="1">
        <p:scale>
          <a:sx n="76" d="100"/>
          <a:sy n="76" d="100"/>
        </p:scale>
        <p:origin x="804" y="78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6282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A5CDB-3F30-C6C8-C95F-3085BF507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54DA03A-6A8A-598E-C31F-943D24A0C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FB41EF9-07D0-B6C5-E176-303AF509D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3240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BE3E5-A491-48BC-6B57-A8393C845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A0FBF30-4405-5833-C765-9FEBA8E2F1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8E4EBE3-DE3C-1831-454A-3CE45CA97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7833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CB489-18D6-A70A-F140-34933607C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A93CE20-34D6-CF78-3FC5-609C573C3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61A1DE3-120B-2825-CE22-45ADF78DE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9937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6878-0229-8C58-E5C7-B62693413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C1009E9-8ABC-1D9C-94EB-C72AA61DA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A4D57CF-672D-122C-ACD9-5D927C072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6592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BCA30-BC3F-ABFF-FF6B-829739522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D0A4EE-E34A-330B-3A57-B74988897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731AB5D-E82C-CF2C-CB2A-11B2E1465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1632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8E8F4-2117-CC36-D3D8-31D4A9F16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3D4BC12-CC53-1471-0F7F-25B2494E3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DED89-A691-0485-4D8C-4A8FE97B2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6241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DE1DA-4807-2778-CAC2-CBCD04FC7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76031E5-9F4C-8B29-B3D1-A93664F36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4FC2EB8-6C5C-D4A6-5C5F-C049503E3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11523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52C04-D91D-3C79-AE88-CE74E7A80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EC1635E-06AB-DA04-E358-8FC4DBC37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60E7F8B-BF51-21FF-8687-FAA3BDFDB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512333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4900B-17B5-FB74-6A92-91109C787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FF834DD-3682-10BE-EC42-F30545210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20F7313-17C7-CE4D-FD32-CD62D111F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2366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C5D0C-DFEE-576F-BE54-70E4F127D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05C4A1F-E843-F91A-6D5C-C20B772AC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5B882A2-AC56-CF1B-AA2C-8BF90305F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4120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15FB2-12B3-353E-5A11-E9153DCFF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17815A-FEC6-9F5F-4382-AB6BC4EF5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8D7D88E-9A77-A515-69DC-6E0145B3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8363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FCD6B-BB8F-30A1-BACA-4E825A788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3D4999F-34D2-1DB6-4438-364A22009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362426A-470B-D5FD-D124-3F21CD30C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36071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62490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jetbrains.com/ide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pring.io/tools" TargetMode="External"/><Relationship Id="rId4" Type="http://schemas.openxmlformats.org/officeDocument/2006/relationships/hyperlink" Target="https://netbeans.apache.org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reinaweb.com.br/blog/principais-ides-para-desenvolvimento-java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ieeexplore.ieee.org/abstract/document/1463097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d_-ZoZXAJjg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youtu.be/ktGdyxPi_-I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Desenvolvimento de Software </a:t>
            </a:r>
            <a:br>
              <a:rPr lang="pt-BR" sz="4800" b="1" dirty="0">
                <a:solidFill>
                  <a:schemeClr val="bg1"/>
                </a:solidFill>
              </a:rPr>
            </a:br>
            <a:r>
              <a:rPr lang="pt-BR" sz="4800" b="1" dirty="0">
                <a:solidFill>
                  <a:schemeClr val="bg1"/>
                </a:solidFill>
              </a:rPr>
              <a:t>JAVA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r>
              <a:rPr lang="pt-BR" b="1" dirty="0">
                <a:solidFill>
                  <a:schemeClr val="bg1"/>
                </a:solidFill>
              </a:rPr>
              <a:t>Aula Resumo IDE Java e Spring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	  </a:t>
            </a:r>
            <a:r>
              <a:rPr lang="pt-BR" sz="2800" b="1" dirty="0">
                <a:solidFill>
                  <a:schemeClr val="bg1"/>
                </a:solidFill>
              </a:rPr>
              <a:t>Componentes de Projeto Java</a:t>
            </a:r>
            <a:br>
              <a:rPr lang="pt-BR" sz="2800" b="1" dirty="0">
                <a:solidFill>
                  <a:schemeClr val="bg1"/>
                </a:solidFill>
              </a:rPr>
            </a:br>
            <a:r>
              <a:rPr lang="pt-BR" sz="2800" b="1" dirty="0">
                <a:solidFill>
                  <a:schemeClr val="bg1"/>
                </a:solidFill>
              </a:rPr>
              <a:t>         </a:t>
            </a:r>
            <a:r>
              <a:rPr lang="pt-BR" sz="2800" b="1" dirty="0" err="1">
                <a:solidFill>
                  <a:schemeClr val="bg1"/>
                </a:solidFill>
              </a:rPr>
              <a:t>IDEs</a:t>
            </a:r>
            <a:r>
              <a:rPr lang="pt-BR" sz="2800" b="1" dirty="0">
                <a:solidFill>
                  <a:schemeClr val="bg1"/>
                </a:solidFill>
              </a:rPr>
              <a:t> Java – Plugins JDK</a:t>
            </a:r>
            <a:br>
              <a:rPr lang="pt-BR" sz="2800" b="1" dirty="0">
                <a:solidFill>
                  <a:schemeClr val="bg1"/>
                </a:solidFill>
              </a:rPr>
            </a:br>
            <a:r>
              <a:rPr lang="pt-BR" sz="2800" b="1" dirty="0">
                <a:solidFill>
                  <a:schemeClr val="bg1"/>
                </a:solidFill>
              </a:rPr>
              <a:t>         Selecionar IDE e Instalar</a:t>
            </a:r>
            <a:br>
              <a:rPr lang="pt-BR" sz="2800" b="1" dirty="0">
                <a:solidFill>
                  <a:schemeClr val="bg1"/>
                </a:solidFill>
              </a:rPr>
            </a:br>
            <a:r>
              <a:rPr lang="pt-BR" sz="2800" b="1" dirty="0">
                <a:solidFill>
                  <a:schemeClr val="bg1"/>
                </a:solidFill>
              </a:rPr>
              <a:t>         Técnicas de Programação em Java</a:t>
            </a:r>
            <a:br>
              <a:rPr lang="pt-BR" sz="2800" b="1" dirty="0">
                <a:solidFill>
                  <a:schemeClr val="bg1"/>
                </a:solidFill>
              </a:rPr>
            </a:br>
            <a:r>
              <a:rPr lang="pt-BR" sz="2800" b="1" dirty="0">
                <a:solidFill>
                  <a:schemeClr val="bg1"/>
                </a:solidFill>
              </a:rPr>
              <a:t>	   Dinâmica/Atividades – Prática Java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Componentes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Projeto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se tornar um profissional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Java e Spring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assim como desenvolver em qualquer linguagem. Java é um padrão aberto,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builds JDK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 Componentes Necessários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SDK da linguagem de programação: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JDK Zulu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Oracle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Adopt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Corretto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openJDK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tradutor: Compilador / interpretador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Bibliotecas padrões da linguagem para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linkeditar</a:t>
            </a: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 da linguagem: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Boot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Versionador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Projeto – Ex.: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Ferramenta GIT</a:t>
            </a:r>
          </a:p>
        </p:txBody>
      </p:sp>
    </p:spTree>
    <p:extLst>
      <p:ext uri="{BB962C8B-B14F-4D97-AF65-F5344CB8AC3E}">
        <p14:creationId xmlns:p14="http://schemas.microsoft.com/office/powerpoint/2010/main" val="304981000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FB247-F976-B4AD-249C-E31CB5091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6CA68D7-53EF-CC6E-470B-60B9D3973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Componentes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Projeto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21B72A2-86A0-67CF-7CBD-2C7EAC68EBB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 Componentes Necessários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 –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Tools 4.0 (STS)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Editor de código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Gerenciador de projeto (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Estrutura de projeto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Debug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 complemento de código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Refactors</a:t>
            </a: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</a:p>
        </p:txBody>
      </p:sp>
    </p:spTree>
    <p:extLst>
      <p:ext uri="{BB962C8B-B14F-4D97-AF65-F5344CB8AC3E}">
        <p14:creationId xmlns:p14="http://schemas.microsoft.com/office/powerpoint/2010/main" val="27083662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C4129-2748-2446-DBD7-FA546679B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3AF7F8F-6B97-BFA1-9644-091C54043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IDEs Java – Plugins + JDK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EE1FC78-0B32-5391-DC4F-3C193B67457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IntelliJ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IDEA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https://jetbrains.com/idea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(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versão gratuita e paga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Apache NetBeans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https://netbeans.apache.org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Spring Tools –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https://spring.io/tools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lvl="1"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Eclipse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Spring Tools –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https://spring.io/tools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lvl="1"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Theia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Spring Tools –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https://spring.io/tools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(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Eclipse)</a:t>
            </a:r>
            <a:endParaRPr lang="pt-BR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28829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A9B67-C5AF-CC9B-E111-BB545828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7B02068-17ED-DE14-7B18-09600BDF0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Selecionar</a:t>
            </a:r>
            <a:r>
              <a:rPr lang="en-US" b="1" dirty="0">
                <a:solidFill>
                  <a:srgbClr val="0070C0"/>
                </a:solidFill>
              </a:rPr>
              <a:t> IDE e </a:t>
            </a:r>
            <a:r>
              <a:rPr lang="en-US" b="1" dirty="0" err="1">
                <a:solidFill>
                  <a:srgbClr val="0070C0"/>
                </a:solidFill>
              </a:rPr>
              <a:t>Instalar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604421D-5741-BFBE-F992-5054D6BCF73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Eclipse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Spring Tools –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https://spring.io</a:t>
            </a:r>
            <a:endParaRPr lang="pt-BR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Selecionar a versão compatível com o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baixar a versão .JAR compactada.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Descompactar, dentro da pasta extrair o arquivo contentes.zip, lá consta a IDE STS de trabalho, ou, dois clicks no arquivo .JAR.</a:t>
            </a:r>
          </a:p>
          <a:p>
            <a:pPr marL="457200" lvl="1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Selecionar o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workspace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que será a pasta de projetos.</a:t>
            </a:r>
          </a:p>
        </p:txBody>
      </p:sp>
    </p:spTree>
    <p:extLst>
      <p:ext uri="{BB962C8B-B14F-4D97-AF65-F5344CB8AC3E}">
        <p14:creationId xmlns:p14="http://schemas.microsoft.com/office/powerpoint/2010/main" val="415867598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E94BC-4A36-F6E2-B92F-DC5DAF29C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C87E826-E730-97D5-D1AD-59CE79967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Técnicas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Programação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8CFB438-05F6-A90C-118F-6881434372C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897612"/>
            <a:ext cx="8865056" cy="4090012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Tipos Primitivos 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Operadores 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=; ==; +; -; /; &gt;; &gt;=; &lt;; &lt;=; !=</a:t>
            </a:r>
          </a:p>
          <a:p>
            <a:pPr lvl="2"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Entrada de Dados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java.util.Scanner</a:t>
            </a:r>
            <a:endParaRPr lang="pt-BR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n;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nome; 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Scanner ler = new Scanner(System.in)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ler.nextInt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);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ler.nextDouble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);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ler.next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);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ler.nextLine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);</a:t>
            </a:r>
          </a:p>
        </p:txBody>
      </p:sp>
    </p:spTree>
    <p:extLst>
      <p:ext uri="{BB962C8B-B14F-4D97-AF65-F5344CB8AC3E}">
        <p14:creationId xmlns:p14="http://schemas.microsoft.com/office/powerpoint/2010/main" val="7702577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CAEBC-2F17-4D29-5AD4-CC86F6889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C6F8876-A663-9D27-DE1E-20F6F2223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Técnicas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Programação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0D86BEF-8E11-0CDA-2A6F-C43D3564A370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Saída de Dados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printlf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(“informe um número”);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System.out.printf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("\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nResultados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:\n");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System.out.printf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 + %d = %3d\n", a, b, (a + b));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System.out.printf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 - %d = %3d\n", a, b, (a - b));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System.out.printf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 * %d = %3d\n", a, b, (a * b));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System.out.printf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 / %d = %3d (divisão inteira)\n", a, b, (a / b));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System.out.printf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 / %d = %6.2f (divisão exata)\n", a, b, ((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)a / b));</a:t>
            </a:r>
          </a:p>
        </p:txBody>
      </p:sp>
    </p:spTree>
    <p:extLst>
      <p:ext uri="{BB962C8B-B14F-4D97-AF65-F5344CB8AC3E}">
        <p14:creationId xmlns:p14="http://schemas.microsoft.com/office/powerpoint/2010/main" val="414016379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8A01E-0B94-FB66-18A0-D3DED6B27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7CDF3BD-C7DC-9CAF-2ADF-71C4DAFC3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Técnicas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Programação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DEABBDD-B9A0-9DE6-0EE4-E3519A84828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Estruturas de Controle/Seleção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switch/case</a:t>
            </a:r>
          </a:p>
          <a:p>
            <a:pPr marL="1371600" lvl="3" indent="0" algn="just">
              <a:buNone/>
            </a:pP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10;</a:t>
            </a:r>
          </a:p>
          <a:p>
            <a:pPr marL="137160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 (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137160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case 1:  </a:t>
            </a:r>
          </a:p>
          <a:p>
            <a:pPr marL="137160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("Janeiro"); break;</a:t>
            </a:r>
          </a:p>
          <a:p>
            <a:pPr marL="137160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default: </a:t>
            </a:r>
          </a:p>
          <a:p>
            <a:pPr marL="137160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("Mês inválido"); break;</a:t>
            </a:r>
          </a:p>
          <a:p>
            <a:pPr marL="137160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4940448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1C769-76D3-2DF8-DDBD-C442B6D7A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6F91DA0-85FB-3311-1159-DA1A2C897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Técnicas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Programação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A73D21F-B6A0-C544-CD0C-E21E8976E90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Estruturas Iterativas: for;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do;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forEach</a:t>
            </a: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 = 0;</a:t>
            </a:r>
          </a:p>
          <a:p>
            <a:pPr marL="1407160" lvl="3" indent="0" algn="just">
              <a:buNone/>
            </a:pP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(num &lt; 100){</a:t>
            </a: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("Formação Java web");</a:t>
            </a: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num++;</a:t>
            </a: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407160" lvl="3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58022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ADDA3-1D61-ED39-8539-DC8A2D144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17581D1-39AD-DB0D-1B1C-D5D87F4A0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Técnicas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Programação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F0EB6A3-9747-B5E7-238A-4C3FE224F55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Estruturas Iterativas: for;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do;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forEach</a:t>
            </a: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 = 0</a:t>
            </a: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do{</a:t>
            </a: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("Formação Java web");</a:t>
            </a: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num+-+;</a:t>
            </a: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(num &lt; 100);</a:t>
            </a: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49328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70864-F9F2-304A-251E-33C0CEF05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576EC8-4C39-1B05-150A-44FD440A3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Técnicas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Programação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526EA11-2BF6-9C3F-3A10-7D6FB3AD9FE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Estruturas Iterativas: for;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do;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forEach</a:t>
            </a: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</a:p>
          <a:p>
            <a:pPr marL="1407160" lvl="3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(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num = 0; num &lt; 10; num++){</a:t>
            </a: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("Formação Java web");</a:t>
            </a: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46832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645E5-A8DB-1F58-2B3D-61ABC882D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227E1BF-39CE-5E50-C91E-D849B980E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Técnicas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Programação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C84D5B9-AE33-2EC9-0A86-1776F107494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Estruturas Iterativas: for;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do;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forEach</a:t>
            </a: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forEach</a:t>
            </a: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for(&lt;Tipo&gt; &lt;identificação&gt; : &lt;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 coleção&gt;) {</a:t>
            </a: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&lt;comando&gt;</a:t>
            </a: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407160" lvl="3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07160" lvl="3" indent="0" algn="just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(int count :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meuArray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</a:p>
          <a:p>
            <a:pPr marL="1407160" lvl="3" indent="0" algn="just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comando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1407160" lvl="3" indent="0" algn="just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67292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EF90B-6269-2DA3-A2E7-860A9D3BA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1E32BF5-02C0-11DC-9DA9-66A9ACD6D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Técnicas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Programação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7250E8E-5BCF-D77F-073D-4A56F8C4CFE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Estrutura de Dados</a:t>
            </a:r>
          </a:p>
          <a:p>
            <a:pPr lvl="1" algn="just">
              <a:buFont typeface="Wingdings" panose="05000000000000000000" pitchFamily="2" charset="2"/>
              <a:buChar char="§"/>
            </a:pP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vetor[]; // declaração do vetor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vetor = new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[10]; // alocação de espaço para vetor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vetor[] = new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[10]; // declaração combinada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salario = new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[12];</a:t>
            </a:r>
          </a:p>
        </p:txBody>
      </p:sp>
    </p:spTree>
    <p:extLst>
      <p:ext uri="{BB962C8B-B14F-4D97-AF65-F5344CB8AC3E}">
        <p14:creationId xmlns:p14="http://schemas.microsoft.com/office/powerpoint/2010/main" val="344634033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43EC6-83E9-A36B-A9B7-E44ED5C45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75572B-F055-CEC5-516B-A4560473C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Técnicas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Programação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2ABD83E-E1D0-041C-505D-842293174DA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Estrutura de Dados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 = 10; // tamanho do vetor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v[] = new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[n]; // declaração e alocação de espaço para o vetor "v"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i; // índice ou posição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// processando os "n" elementos do vetor "v"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for (i=0; i&lt;n; i++) {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		v[i] = i; // na i-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ésima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posição do vetor "v" armazena o valor da viável "i"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159433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12261"/>
            <a:ext cx="8865056" cy="38353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  <a:p>
            <a:pPr marL="0" indent="0" algn="just">
              <a:buNone/>
            </a:pP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Disponível em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 – Parte 1</a:t>
            </a:r>
          </a:p>
          <a:p>
            <a:pPr marL="0" indent="0" algn="just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https://www.treinaweb.com.br/blog/principais-ides-para-desenvolvimento-java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</a:p>
          <a:p>
            <a:pPr marL="0" indent="0" algn="just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Disponível em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 – Parte 2</a:t>
            </a:r>
          </a:p>
          <a:p>
            <a:pPr marL="0" indent="0" algn="just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https://ieeexplore.ieee.org/abstract/document/1463097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https://youtu.be/d_-ZoZXAJjg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IDE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https://youtu.be/ktGdyxPi_-I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IDE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Atividades</a:t>
            </a:r>
            <a:r>
              <a:rPr lang="en-US" b="1" dirty="0">
                <a:solidFill>
                  <a:srgbClr val="0070C0"/>
                </a:solidFill>
              </a:rPr>
              <a:t> – </a:t>
            </a:r>
            <a:r>
              <a:rPr lang="en-US" b="1" dirty="0" err="1">
                <a:solidFill>
                  <a:srgbClr val="0070C0"/>
                </a:solidFill>
              </a:rPr>
              <a:t>Prática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606305"/>
          </a:xfrm>
        </p:spPr>
        <p:txBody>
          <a:bodyPr>
            <a:noAutofit/>
          </a:bodyPr>
          <a:lstStyle/>
          <a:p>
            <a:pPr algn="just">
              <a:buFontTx/>
              <a:buChar char="-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Exercícios de Fixação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marL="0" indent="0" algn="just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 algn="just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onlinegdb.com</a:t>
            </a:r>
          </a:p>
          <a:p>
            <a:pPr marL="0" indent="0" algn="just">
              <a:buNone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Desafios Lógica de Programação em Sala de Aula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 algn="just">
              <a:buNone/>
            </a:pPr>
            <a:endParaRPr lang="pt-BR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65298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MENDES, Douglas Rocha.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Programação Java com ênfase em Orientação a Objetos.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Novatec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Editora, 2009.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LEITE, Thiago et al.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Orientação a objetos: aprenda seus conceitos e suas aplicabilidades de forma efetiva. Editora Casa do Código, 2016.</a:t>
            </a: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Desenvolvimento de Software </a:t>
            </a:r>
            <a:br>
              <a:rPr lang="pt-BR" sz="4800" b="1" dirty="0">
                <a:solidFill>
                  <a:schemeClr val="bg1"/>
                </a:solidFill>
              </a:rPr>
            </a:br>
            <a:r>
              <a:rPr lang="pt-BR" sz="4800" b="1" dirty="0">
                <a:solidFill>
                  <a:schemeClr val="bg1"/>
                </a:solidFill>
              </a:rPr>
              <a:t>JAVA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7719</TotalTime>
  <Words>1135</Words>
  <Application>Microsoft Office PowerPoint</Application>
  <PresentationFormat>Apresentação na tela (16:9)</PresentationFormat>
  <Paragraphs>152</Paragraphs>
  <Slides>20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Times New Roman</vt:lpstr>
      <vt:lpstr>Wingdings</vt:lpstr>
      <vt:lpstr>Office Theme</vt:lpstr>
      <vt:lpstr>Desenvolvimento de Software  JAVA</vt:lpstr>
      <vt:lpstr>Aula Resumo IDE Java e Spring    Componentes de Projeto Java          IDEs Java – Plugins JDK          Selecionar IDE e Instalar          Técnicas de Programação em Java     Dinâmica/Atividades – Prática Java</vt:lpstr>
      <vt:lpstr>Componentes de Projeto Java</vt:lpstr>
      <vt:lpstr>Componentes de Projeto Java</vt:lpstr>
      <vt:lpstr>IDEs Java – Plugins + JDK</vt:lpstr>
      <vt:lpstr>Selecionar IDE e Instalar</vt:lpstr>
      <vt:lpstr>Técnicas de Programação Java</vt:lpstr>
      <vt:lpstr>Técnicas de Programação Java</vt:lpstr>
      <vt:lpstr>Técnicas de Programação Java</vt:lpstr>
      <vt:lpstr>Técnicas de Programação Java</vt:lpstr>
      <vt:lpstr>Técnicas de Programação Java</vt:lpstr>
      <vt:lpstr>Técnicas de Programação Java</vt:lpstr>
      <vt:lpstr>Técnicas de Programação Java</vt:lpstr>
      <vt:lpstr>Técnicas de Programação Java</vt:lpstr>
      <vt:lpstr>Técnicas de Programação Java</vt:lpstr>
      <vt:lpstr>Leitura Específica</vt:lpstr>
      <vt:lpstr>Aprenda+</vt:lpstr>
      <vt:lpstr>Dinâmica/Atividades – Prática Java</vt:lpstr>
      <vt:lpstr>Referências Bibliográficas</vt:lpstr>
      <vt:lpstr>Desenvolvimento de Software  JAVA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 DA SILVA FILHO</cp:lastModifiedBy>
  <cp:revision>1425</cp:revision>
  <dcterms:created xsi:type="dcterms:W3CDTF">2020-03-17T20:12:34Z</dcterms:created>
  <dcterms:modified xsi:type="dcterms:W3CDTF">2024-03-06T22:09:17Z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