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91" r:id="rId3"/>
    <p:sldId id="396" r:id="rId4"/>
    <p:sldId id="397" r:id="rId5"/>
    <p:sldId id="398" r:id="rId6"/>
    <p:sldId id="399" r:id="rId7"/>
    <p:sldId id="410" r:id="rId8"/>
    <p:sldId id="411" r:id="rId9"/>
    <p:sldId id="400" r:id="rId10"/>
    <p:sldId id="402" r:id="rId11"/>
    <p:sldId id="401" r:id="rId12"/>
    <p:sldId id="403" r:id="rId13"/>
    <p:sldId id="404" r:id="rId14"/>
    <p:sldId id="406" r:id="rId15"/>
    <p:sldId id="407" r:id="rId16"/>
    <p:sldId id="405" r:id="rId17"/>
    <p:sldId id="408" r:id="rId18"/>
    <p:sldId id="409" r:id="rId19"/>
    <p:sldId id="333" r:id="rId20"/>
    <p:sldId id="323" r:id="rId21"/>
    <p:sldId id="334" r:id="rId22"/>
    <p:sldId id="337" r:id="rId23"/>
    <p:sldId id="309" r:id="rId24"/>
  </p:sldIdLst>
  <p:sldSz cx="9144000" cy="5143500" type="screen16x9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  <p:extLst>
    <p:ext uri="{EFAFB233-063F-42B5-8137-9DF3F51BA10A}">
      <p15:sldGuideLst xmlns:p15="http://schemas.microsoft.com/office/powerpoint/2012/main">
        <p15:guide id="1" orient="horz" pos="1572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Estilo Clar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76" autoAdjust="0"/>
    <p:restoredTop sz="83649" autoAdjust="0"/>
  </p:normalViewPr>
  <p:slideViewPr>
    <p:cSldViewPr snapToGrid="0">
      <p:cViewPr varScale="1">
        <p:scale>
          <a:sx n="76" d="100"/>
          <a:sy n="76" d="100"/>
        </p:scale>
        <p:origin x="804" y="78"/>
      </p:cViewPr>
      <p:guideLst>
        <p:guide orient="horz" pos="1572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4494"/>
    </p:cViewPr>
  </p:sorterViewPr>
  <p:notesViewPr>
    <p:cSldViewPr snapToGrid="0">
      <p:cViewPr varScale="1">
        <p:scale>
          <a:sx n="56" d="100"/>
          <a:sy n="56" d="100"/>
        </p:scale>
        <p:origin x="-2826" y="-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Shape 109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0" name="Shape 11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56252599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062824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A5CDB-3F30-C6C8-C95F-3085BF507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54DA03A-6A8A-598E-C31F-943D24A0C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B41EF9-07D0-B6C5-E176-303AF509D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832401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BE3E5-A491-48BC-6B57-A8393C845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A0FBF30-4405-5833-C765-9FEBA8E2F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8E4EBE3-DE3C-1831-454A-3CE45CA97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78337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CB489-18D6-A70A-F140-34933607C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A93CE20-34D6-CF78-3FC5-609C573C39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61A1DE3-120B-2825-CE22-45ADF78DE0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199376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A5CDB-3F30-C6C8-C95F-3085BF507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54DA03A-6A8A-598E-C31F-943D24A0C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B41EF9-07D0-B6C5-E176-303AF509D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882873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A5CDB-3F30-C6C8-C95F-3085BF507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54DA03A-6A8A-598E-C31F-943D24A0C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B41EF9-07D0-B6C5-E176-303AF509D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80754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76878-0229-8C58-E5C7-B62693413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C1009E9-8ABC-1D9C-94EB-C72AA61DAF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A4D57CF-672D-122C-ACD9-5D927C072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965921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BCA30-BC3F-ABFF-FF6B-829739522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D0A4EE-E34A-330B-3A57-B74988897E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731AB5D-E82C-CF2C-CB2A-11B2E1465A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16329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8E8F4-2117-CC36-D3D8-31D4A9F16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3D4BC12-CC53-1471-0F7F-25B2494E3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ADED89-A691-0485-4D8C-4A8FE97B2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662417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DE1DA-4807-2778-CAC2-CBCD04FC7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76031E5-9F4C-8B29-B3D1-A93664F36D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4FC2EB8-6C5C-D4A6-5C5F-C049503E3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11523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52C04-D91D-3C79-AE88-CE74E7A80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EC1635E-06AB-DA04-E358-8FC4DBC37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60E7F8B-BF51-21FF-8687-FAA3BDFDB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12333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4900B-17B5-FB74-6A92-91109C787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FF834DD-3682-10BE-EC42-F30545210C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20F7313-17C7-CE4D-FD32-CD62D111F1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623669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C5D0C-DFEE-576F-BE54-70E4F127D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05C4A1F-E843-F91A-6D5C-C20B772AC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5B882A2-AC56-CF1B-AA2C-8BF90305F2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941206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15FB2-12B3-353E-5A11-E9153DCFF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A17815A-FEC6-9F5F-4382-AB6BC4EF5A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D7D88E-9A77-A515-69DC-6E0145B36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928363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FCD6B-BB8F-30A1-BACA-4E825A788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3D4999F-34D2-1DB6-4438-364A22009A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362426A-470B-D5FD-D124-3F21CD30CB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936071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2F08C-6FAD-467B-922E-8286A9D3B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FF4B77A-8EC9-76D1-762F-A15F917256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8EB18C0-1F15-4BAC-2476-295DEACA66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508438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853043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095695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9624905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90351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85802" y="1597820"/>
            <a:ext cx="7772400" cy="1102519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2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2" cy="1021556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Texto do Título</a:t>
            </a:r>
          </a:p>
        </p:txBody>
      </p:sp>
      <p:sp>
        <p:nvSpPr>
          <p:cNvPr id="30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722313" y="2180035"/>
            <a:ext cx="7772402" cy="112514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31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39" name="Nível de Corpo Um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457201" y="1200151"/>
            <a:ext cx="4038601" cy="3394472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40" indent="-320040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48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645028" y="1151334"/>
            <a:ext cx="4041774" cy="479824"/>
          </a:xfrm>
          <a:prstGeom prst="rect">
            <a:avLst/>
          </a:prstGeom>
        </p:spPr>
        <p:txBody>
          <a:bodyPr anchor="b"/>
          <a:lstStyle/>
          <a:p>
            <a:endParaRPr/>
          </a:p>
        </p:txBody>
      </p:sp>
      <p:sp>
        <p:nvSpPr>
          <p:cNvPr id="50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1792289" y="3600450"/>
            <a:ext cx="5486402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Texto do Título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13"/>
          </p:nvPr>
        </p:nvSpPr>
        <p:spPr>
          <a:xfrm>
            <a:off x="1792289" y="459581"/>
            <a:ext cx="5486402" cy="3086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Nível de Corpo Um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92289" y="4025503"/>
            <a:ext cx="5486402" cy="60364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0">
              <a:spcBef>
                <a:spcPts val="300"/>
              </a:spcBef>
              <a:buSzTx/>
              <a:buFontTx/>
              <a:buNone/>
              <a:defRPr sz="1400"/>
            </a:lvl2pPr>
            <a:lvl3pPr marL="0" indent="0">
              <a:spcBef>
                <a:spcPts val="300"/>
              </a:spcBef>
              <a:buSzTx/>
              <a:buFontTx/>
              <a:buNone/>
              <a:defRPr sz="1400"/>
            </a:lvl3pPr>
            <a:lvl4pPr marL="0" indent="0">
              <a:spcBef>
                <a:spcPts val="300"/>
              </a:spcBef>
              <a:buSzTx/>
              <a:buFontTx/>
              <a:buNone/>
              <a:defRPr sz="1400"/>
            </a:lvl4pPr>
            <a:lvl5pPr marL="0" indent="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85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o do Título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93" name="Nível de Corpo Um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94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o do Título"/>
          <p:cNvSpPr txBox="1">
            <a:spLocks noGrp="1"/>
          </p:cNvSpPr>
          <p:nvPr>
            <p:ph type="title" hasCustomPrompt="1"/>
          </p:nvPr>
        </p:nvSpPr>
        <p:spPr>
          <a:xfrm>
            <a:off x="6629399" y="205980"/>
            <a:ext cx="2057401" cy="4388645"/>
          </a:xfrm>
          <a:prstGeom prst="rect">
            <a:avLst/>
          </a:prstGeom>
        </p:spPr>
        <p:txBody>
          <a:bodyPr/>
          <a:lstStyle/>
          <a:p>
            <a:r>
              <a:t>Texto do Título</a:t>
            </a:r>
          </a:p>
        </p:txBody>
      </p:sp>
      <p:sp>
        <p:nvSpPr>
          <p:cNvPr id="102" name="Nível de Corpo Um…"/>
          <p:cNvSpPr txBox="1">
            <a:spLocks noGrp="1"/>
          </p:cNvSpPr>
          <p:nvPr>
            <p:ph type="body" idx="1" hasCustomPrompt="1"/>
          </p:nvPr>
        </p:nvSpPr>
        <p:spPr>
          <a:xfrm>
            <a:off x="457200" y="205980"/>
            <a:ext cx="6019801" cy="4388645"/>
          </a:xfrm>
          <a:prstGeom prst="rect">
            <a:avLst/>
          </a:prstGeom>
        </p:spPr>
        <p:txBody>
          <a:bodyPr/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103" name="Número do Slid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‹nº›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rmAutofit/>
          </a:bodyPr>
          <a:lstStyle/>
          <a:p>
            <a:r>
              <a:t>Texto do Título</a:t>
            </a:r>
          </a:p>
        </p:txBody>
      </p:sp>
      <p:sp>
        <p:nvSpPr>
          <p:cNvPr id="3" name="Nível de Corpo Um…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>
            <a:normAutofit/>
          </a:bodyPr>
          <a:lstStyle/>
          <a:p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8342803" y="4765688"/>
            <a:ext cx="344000" cy="276995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rPr/>
              <a:t>‹nº›</a:t>
            </a:fld>
            <a:endParaRPr/>
          </a:p>
        </p:txBody>
      </p:sp>
      <p:pic>
        <p:nvPicPr>
          <p:cNvPr id="5" name="Picture 5" descr="Picture 5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6" name="Picture 6" descr="Picture 6"/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6649752" y="4972050"/>
            <a:ext cx="2494252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7" name="Imagem" descr="Imagem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051528" y="4341020"/>
            <a:ext cx="1690697" cy="545441"/>
          </a:xfrm>
          <a:prstGeom prst="rect">
            <a:avLst/>
          </a:prstGeom>
          <a:ln w="12700">
            <a:miter lim="400000"/>
            <a:headEnd/>
            <a:tailEnd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44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590" marR="0" indent="-32639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–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»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 panose="020B0604020202020204"/>
        <a:buChar char="•"/>
        <a:defRPr sz="3200" b="0" i="0" u="none" strike="noStrike" cap="none" spc="0" baseline="0">
          <a:ln>
            <a:noFill/>
          </a:ln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jetbrains.com/idea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spring.io/tools" TargetMode="External"/><Relationship Id="rId4" Type="http://schemas.openxmlformats.org/officeDocument/2006/relationships/hyperlink" Target="https://netbeans.apache.org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pring.io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pring.io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91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reinaweb.com.br/blog/principais-ides-para-desenvolvimento-java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ieeexplore.ieee.org/abstract/document/1463097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d_-ZoZXAJjg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youtu.be/ktGdyxPi_-I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Desenvolvimento de Software 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JAVA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348258" y="2277667"/>
            <a:ext cx="8681444" cy="1102519"/>
          </a:xfrm>
        </p:spPr>
        <p:txBody>
          <a:bodyPr>
            <a:noAutofit/>
          </a:bodyPr>
          <a:lstStyle/>
          <a:p>
            <a:pPr algn="l"/>
            <a:r>
              <a:rPr lang="pt-BR" b="1" dirty="0">
                <a:solidFill>
                  <a:schemeClr val="bg1"/>
                </a:solidFill>
              </a:rPr>
              <a:t>Aula Resumo IDE Java e Spring</a:t>
            </a:r>
            <a:br>
              <a:rPr lang="pt-BR" b="1" dirty="0">
                <a:solidFill>
                  <a:schemeClr val="bg1"/>
                </a:solidFill>
              </a:rPr>
            </a:br>
            <a:r>
              <a:rPr lang="pt-BR" b="1" dirty="0">
                <a:solidFill>
                  <a:schemeClr val="bg1"/>
                </a:solidFill>
              </a:rPr>
              <a:t>	 </a:t>
            </a:r>
            <a:r>
              <a:rPr lang="pt-BR" sz="2200" b="1" dirty="0">
                <a:solidFill>
                  <a:schemeClr val="bg1"/>
                </a:solidFill>
              </a:rPr>
              <a:t>Componentes de Projeto Java</a:t>
            </a:r>
            <a:br>
              <a:rPr lang="pt-BR" sz="2200" b="1" dirty="0">
                <a:solidFill>
                  <a:schemeClr val="bg1"/>
                </a:solidFill>
              </a:rPr>
            </a:br>
            <a:r>
              <a:rPr lang="pt-BR" sz="2200" b="1" dirty="0">
                <a:solidFill>
                  <a:schemeClr val="bg1"/>
                </a:solidFill>
              </a:rPr>
              <a:t>         </a:t>
            </a:r>
            <a:r>
              <a:rPr lang="pt-BR" sz="2200" b="1" dirty="0" err="1">
                <a:solidFill>
                  <a:schemeClr val="bg1"/>
                </a:solidFill>
              </a:rPr>
              <a:t>IDEs</a:t>
            </a:r>
            <a:r>
              <a:rPr lang="pt-BR" sz="2200" b="1" dirty="0">
                <a:solidFill>
                  <a:schemeClr val="bg1"/>
                </a:solidFill>
              </a:rPr>
              <a:t> Java – Plugins JDK</a:t>
            </a:r>
            <a:br>
              <a:rPr lang="pt-BR" sz="2200" b="1" dirty="0">
                <a:solidFill>
                  <a:schemeClr val="bg1"/>
                </a:solidFill>
              </a:rPr>
            </a:br>
            <a:r>
              <a:rPr lang="pt-BR" sz="2200" b="1" dirty="0">
                <a:solidFill>
                  <a:schemeClr val="bg1"/>
                </a:solidFill>
              </a:rPr>
              <a:t>         Selecionar IDE e Instalar</a:t>
            </a:r>
            <a:br>
              <a:rPr lang="pt-BR" sz="2200" b="1" dirty="0">
                <a:solidFill>
                  <a:schemeClr val="bg1"/>
                </a:solidFill>
              </a:rPr>
            </a:br>
            <a:r>
              <a:rPr lang="pt-BR" sz="2200" b="1" dirty="0">
                <a:solidFill>
                  <a:schemeClr val="bg1"/>
                </a:solidFill>
              </a:rPr>
              <a:t>         Configurar Ambiente Java</a:t>
            </a:r>
            <a:br>
              <a:rPr lang="pt-BR" sz="2200" b="1" dirty="0">
                <a:solidFill>
                  <a:schemeClr val="bg1"/>
                </a:solidFill>
              </a:rPr>
            </a:br>
            <a:r>
              <a:rPr lang="pt-BR" sz="2200" b="1" dirty="0">
                <a:solidFill>
                  <a:schemeClr val="bg1"/>
                </a:solidFill>
              </a:rPr>
              <a:t>	  Projeto Web Java </a:t>
            </a:r>
            <a:br>
              <a:rPr lang="pt-BR" sz="2200" b="1" dirty="0">
                <a:solidFill>
                  <a:schemeClr val="bg1"/>
                </a:solidFill>
              </a:rPr>
            </a:br>
            <a:r>
              <a:rPr lang="pt-BR" sz="2200" b="1" dirty="0">
                <a:solidFill>
                  <a:schemeClr val="bg1"/>
                </a:solidFill>
              </a:rPr>
              <a:t>         Técnicas de Programação em Java</a:t>
            </a:r>
            <a:br>
              <a:rPr lang="pt-BR" sz="2200" b="1" dirty="0">
                <a:solidFill>
                  <a:schemeClr val="bg1"/>
                </a:solidFill>
              </a:rPr>
            </a:br>
            <a:r>
              <a:rPr lang="pt-BR" sz="2200" b="1" dirty="0">
                <a:solidFill>
                  <a:schemeClr val="bg1"/>
                </a:solidFill>
              </a:rPr>
              <a:t>	  Dinâmica/Atividades – Prática Java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 dirty="0" err="1">
                <a:solidFill>
                  <a:schemeClr val="bg1"/>
                </a:solidFill>
              </a:rPr>
              <a:t>MSc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Componentes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Projeto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se tornar um profissional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Java e Spring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assim como desenvolver em qualquer linguagem. Java é um padrão aberto,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builds JDK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 Componentes Necessários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SDK da linguagem de programação: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JDK Zulu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Oracle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Adopt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Amazon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Corretto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Hat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openJDK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Software tradutor: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Compilador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/ interpretador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Bibliotecas padrões da linguagem para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linkeditar</a:t>
            </a: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Framework da linguagem: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Boot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Versionador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Projeto – Ex.: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Ferramenta GIT</a:t>
            </a:r>
          </a:p>
        </p:txBody>
      </p:sp>
    </p:spTree>
    <p:extLst>
      <p:ext uri="{BB962C8B-B14F-4D97-AF65-F5344CB8AC3E}">
        <p14:creationId xmlns:p14="http://schemas.microsoft.com/office/powerpoint/2010/main" val="304981000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FB247-F976-B4AD-249C-E31CB509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6CA68D7-53EF-CC6E-470B-60B9D3973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Componentes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Projeto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21B72A2-86A0-67CF-7CBD-2C7EAC68EBB1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 Componentes Necessários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IDE –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Tools 4.0 (STS)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Editor de código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Gerenciador de projeto (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 de projeto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Debug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 complemento de código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Refactors</a:t>
            </a: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2" indent="0" algn="just">
              <a:buNone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2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Postman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2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Insominia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testar as requisições.</a:t>
            </a:r>
          </a:p>
          <a:p>
            <a:pPr marL="0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</a:t>
            </a:r>
          </a:p>
        </p:txBody>
      </p:sp>
    </p:spTree>
    <p:extLst>
      <p:ext uri="{BB962C8B-B14F-4D97-AF65-F5344CB8AC3E}">
        <p14:creationId xmlns:p14="http://schemas.microsoft.com/office/powerpoint/2010/main" val="27083662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C4129-2748-2446-DBD7-FA546679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3AF7F8F-6B97-BFA1-9644-091C54043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IDEs Java – Plugins + JDK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EE1FC78-0B32-5391-DC4F-3C193B674572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IntelliJ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IDEA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https://jetbrains.com/idea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(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versão </a:t>
            </a:r>
            <a:r>
              <a:rPr lang="pt-BR" sz="2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gratuita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paga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1" algn="just">
              <a:buFont typeface="Wingdings" panose="05000000000000000000" pitchFamily="2" charset="2"/>
              <a:buChar char="§"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Apache NetBeans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https://netbeans.apache.org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 algn="just">
              <a:buFont typeface="Wingdings" panose="05000000000000000000" pitchFamily="2" charset="2"/>
              <a:buChar char="§"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 Spring Tools –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https://spring.io/tools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lvl="1" algn="just">
              <a:buFont typeface="Wingdings" panose="05000000000000000000" pitchFamily="2" charset="2"/>
              <a:buChar char="§"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Eclipse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Spring Tools –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https://spring.io/tools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  <a:p>
            <a:pPr lvl="1" algn="just">
              <a:buFont typeface="Wingdings" panose="05000000000000000000" pitchFamily="2" charset="2"/>
              <a:buChar char="§"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Theia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Spring Tools –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https://spring.io/tools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(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Eclipse)</a:t>
            </a:r>
            <a:endParaRPr lang="pt-BR" sz="2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288298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A9B67-C5AF-CC9B-E111-BB5458282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7B02068-17ED-DE14-7B18-09600BDF0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Selecionar</a:t>
            </a:r>
            <a:r>
              <a:rPr lang="en-US" b="1" dirty="0">
                <a:solidFill>
                  <a:srgbClr val="0070C0"/>
                </a:solidFill>
              </a:rPr>
              <a:t> IDE e </a:t>
            </a:r>
            <a:r>
              <a:rPr lang="en-US" b="1" dirty="0" err="1">
                <a:solidFill>
                  <a:srgbClr val="0070C0"/>
                </a:solidFill>
              </a:rPr>
              <a:t>Instalar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604421D-5741-BFBE-F992-5054D6BCF73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marL="457200" lvl="1" indent="0" algn="just">
              <a:buNone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Eclipse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Spring Tools –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https://spring.io</a:t>
            </a:r>
            <a:endParaRPr lang="pt-BR" sz="2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just">
              <a:buNone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Selecionar a versão compatível com o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baixar a versão .JAR compactada.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Descompactar, dentro da pasta extrair o arquivo contentes.zip, lá consta a IDE STS de trabalho, ou, dois clicks no arquivo .JAR.</a:t>
            </a:r>
          </a:p>
          <a:p>
            <a:pPr marL="457200" lvl="1" indent="0" algn="just">
              <a:buNone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Selecionar o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workspace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que será a pasta de projetos.</a:t>
            </a:r>
          </a:p>
        </p:txBody>
      </p:sp>
    </p:spTree>
    <p:extLst>
      <p:ext uri="{BB962C8B-B14F-4D97-AF65-F5344CB8AC3E}">
        <p14:creationId xmlns:p14="http://schemas.microsoft.com/office/powerpoint/2010/main" val="415867598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FB247-F976-B4AD-249C-E31CB509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6CA68D7-53EF-CC6E-470B-60B9D3973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Configurar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Ambiente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21B72A2-86A0-67CF-7CBD-2C7EAC68EBB1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986512"/>
            <a:ext cx="8865056" cy="3902988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URL: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https://spring.io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initializr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</a:p>
          <a:p>
            <a:pPr marL="0" indent="0" algn="just">
              <a:buNone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Configurar-Variáveis de Ambiente,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criar/atualizar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VARIÁVEIS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indent="0" algn="just">
              <a:buNone/>
            </a:pPr>
            <a:r>
              <a:rPr lang="pt-BR" sz="2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JAVA_HOME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 C:\Program Files\Java\zulu17.34.19-ca-jdk17.0.3-win_x64\</a:t>
            </a:r>
          </a:p>
          <a:p>
            <a:pPr marL="0" indent="0" algn="just">
              <a:buNone/>
            </a:pPr>
            <a:r>
              <a:rPr lang="pt-BR" sz="2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PATH=	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C:\Program Files\Java\zulu17.34.19-ca-jdk17.0.3-win_x64\bin</a:t>
            </a:r>
          </a:p>
          <a:p>
            <a:pPr marL="0" indent="0" algn="just">
              <a:buNone/>
            </a:pPr>
            <a:r>
              <a:rPr lang="pt-BR" sz="22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CLASSPATH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;%JAVA_HOME%\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;%JAVA_HOME%\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jre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lib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0" indent="0" algn="just">
              <a:buNone/>
            </a:pP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Nota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2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–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version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,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para testar se a instalação está ok.</a:t>
            </a: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			</a:t>
            </a:r>
          </a:p>
        </p:txBody>
      </p:sp>
    </p:spTree>
    <p:extLst>
      <p:ext uri="{BB962C8B-B14F-4D97-AF65-F5344CB8AC3E}">
        <p14:creationId xmlns:p14="http://schemas.microsoft.com/office/powerpoint/2010/main" val="2314797893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FB247-F976-B4AD-249C-E31CB509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6CA68D7-53EF-CC6E-470B-60B9D3973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Projeto</a:t>
            </a:r>
            <a:r>
              <a:rPr lang="en-US" b="1" dirty="0">
                <a:solidFill>
                  <a:srgbClr val="0070C0"/>
                </a:solidFill>
              </a:rPr>
              <a:t> Web Java – Spring </a:t>
            </a:r>
            <a:r>
              <a:rPr lang="en-US" b="1" dirty="0" err="1">
                <a:solidFill>
                  <a:srgbClr val="0070C0"/>
                </a:solidFill>
              </a:rPr>
              <a:t>Initializr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21B72A2-86A0-67CF-7CBD-2C7EAC68EBB1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986512"/>
            <a:ext cx="8865056" cy="3902988"/>
          </a:xfrm>
        </p:spPr>
        <p:txBody>
          <a:bodyPr>
            <a:no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Project: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Language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Spring Boot: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versão LTS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Project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Informações do projeto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(domínio) e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artifact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Dependencies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Spring Boot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Tools; Spring Web; H2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Database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1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BD, segurança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pt-BR" sz="1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just">
              <a:buFont typeface="+mj-lt"/>
              <a:buAutoNum type="arabicPeriod"/>
            </a:pP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Jar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Versão Java: 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???;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Por último,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Generate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904875" lvl="1" indent="-457200" algn="just">
              <a:buFont typeface="+mj-lt"/>
              <a:buAutoNum type="arabicPeriod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Download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zipado</a:t>
            </a:r>
            <a:endParaRPr lang="pt-BR" sz="18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04875" lvl="1" indent="-457200" algn="just">
              <a:buFont typeface="+mj-lt"/>
              <a:buAutoNum type="arabicPeriod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Descompactar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arquivo (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Projeto Web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904875" lvl="1" indent="-457200" algn="just">
              <a:buFont typeface="+mj-lt"/>
              <a:buAutoNum type="arabicPeriod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Colocar na pasta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 trabalho da IDE STS 4</a:t>
            </a:r>
          </a:p>
          <a:p>
            <a:pPr marL="904875" lvl="1" indent="-457200" algn="just">
              <a:buFont typeface="+mj-lt"/>
              <a:buAutoNum type="arabicPeriod"/>
            </a:pP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Executar a 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 STS 4</a:t>
            </a:r>
          </a:p>
          <a:p>
            <a:pPr marL="904875" lvl="1" indent="-457200" algn="just">
              <a:buFont typeface="+mj-lt"/>
              <a:buAutoNum type="arabicPeriod"/>
            </a:pP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Impotar</a:t>
            </a:r>
            <a:r>
              <a:rPr lang="pt-BR" sz="1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STS,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</a:t>
            </a:r>
            <a:r>
              <a:rPr lang="pt-BR" sz="1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=&gt; Projeto </a:t>
            </a:r>
            <a:r>
              <a:rPr lang="pt-BR" sz="18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Maven</a:t>
            </a:r>
            <a:r>
              <a:rPr lang="pt-BR" sz="1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Existente</a:t>
            </a:r>
          </a:p>
          <a:p>
            <a:pPr marL="0" indent="0" algn="just">
              <a:buNone/>
            </a:pPr>
            <a:r>
              <a:rPr lang="pt-B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Nota: </a:t>
            </a:r>
            <a:r>
              <a:rPr lang="pt-B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Caso, conflite com a </a:t>
            </a:r>
            <a:r>
              <a:rPr lang="pt-B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porta 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8080</a:t>
            </a:r>
            <a:r>
              <a:rPr lang="pt-B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do TOMCAT</a:t>
            </a:r>
            <a:r>
              <a:rPr lang="pt-B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criar um arquivo na pasta: </a:t>
            </a:r>
            <a:r>
              <a:rPr lang="pt-B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src</a:t>
            </a:r>
            <a:r>
              <a:rPr lang="pt-B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6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resources</a:t>
            </a:r>
            <a:r>
              <a:rPr lang="pt-B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 o nome </a:t>
            </a:r>
            <a:r>
              <a:rPr lang="pt-BR" sz="16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application.properties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pt-B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conteúdo: </a:t>
            </a:r>
            <a:r>
              <a:rPr lang="pt-BR" sz="16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server.port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8091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browser </a:t>
            </a:r>
            <a:r>
              <a:rPr lang="pt-BR" sz="1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acesse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http://localhost:PORTA/</a:t>
            </a:r>
            <a:endParaRPr lang="pt-BR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7429966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E94BC-4A36-F6E2-B92F-DC5DAF29C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C87E826-E730-97D5-D1AD-59CE79967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Técnicas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Programação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68CFB438-05F6-A90C-118F-6881434372C3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897612"/>
            <a:ext cx="8865056" cy="4090012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Tipos Primitivos 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byte, short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char,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boolean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Operadores: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atribuição, aritméticos; relacionais e lógicos; </a:t>
            </a:r>
            <a:r>
              <a:rPr lang="pt-BR" sz="22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pt-BR" sz="22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</a:t>
            </a:r>
            <a:endParaRPr lang="pt-BR" sz="2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=; +; -; /; *; &gt;; &gt;=; &lt;; &lt;=; ==; !=; %; &amp;&amp;; ||; !; ++; --; +=; ?:;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</a:t>
            </a: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Constantes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false;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Prioridade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(  )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Entrada de Dados 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pt-BR" sz="22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import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java.util.Scanner</a:t>
            </a:r>
            <a:endParaRPr lang="pt-BR" sz="22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preco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nome; 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Scanner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ler = new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Scanner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(System.in); 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Fechar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ler.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close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)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ler.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);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ler.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nextDouble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);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ler.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);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ler.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nextLine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 );</a:t>
            </a:r>
          </a:p>
        </p:txBody>
      </p:sp>
    </p:spTree>
    <p:extLst>
      <p:ext uri="{BB962C8B-B14F-4D97-AF65-F5344CB8AC3E}">
        <p14:creationId xmlns:p14="http://schemas.microsoft.com/office/powerpoint/2010/main" val="77025777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CAEBC-2F17-4D29-5AD4-CC86F6889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C6F8876-A663-9D27-DE1E-20F6F2223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Técnicas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Programação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00D86BEF-8E11-0CDA-2A6F-C43D3564A370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Saída de Dados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printlf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(“informe um número”);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("\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nResultados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:\n");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("%d + %d = %3d\n", a, b, (a + b));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("%d - %d = %3d\n", a, b, (a - b));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("%d * %d = %3d\n", a, b, (a * b));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("%d / %d = %3d (divisão inteira)\n", a, b, (a / b));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("%d / %d = %6.2f (divisão exata)\n", a, b, ((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)a / b));</a:t>
            </a:r>
          </a:p>
        </p:txBody>
      </p:sp>
    </p:spTree>
    <p:extLst>
      <p:ext uri="{BB962C8B-B14F-4D97-AF65-F5344CB8AC3E}">
        <p14:creationId xmlns:p14="http://schemas.microsoft.com/office/powerpoint/2010/main" val="4140163799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8A01E-0B94-FB66-18A0-D3DED6B2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7CDF3BD-C7DC-9CAF-2ADF-71C4DAFC3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Técnicas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Programação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DEABBDD-B9A0-9DE6-0EE4-E3519A84828A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Estruturas de Controle/Seleção</a:t>
            </a: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switch/case</a:t>
            </a:r>
          </a:p>
          <a:p>
            <a:pPr marL="1371600" lvl="3" indent="0" algn="just">
              <a:buNone/>
            </a:pP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10;</a:t>
            </a:r>
          </a:p>
          <a:p>
            <a:pPr marL="137160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switch (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137160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case 1:  </a:t>
            </a:r>
          </a:p>
          <a:p>
            <a:pPr marL="137160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println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("Janeiro"); break;</a:t>
            </a:r>
          </a:p>
          <a:p>
            <a:pPr marL="137160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default: </a:t>
            </a:r>
          </a:p>
          <a:p>
            <a:pPr marL="137160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println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("Mês inválido"); break;</a:t>
            </a:r>
          </a:p>
          <a:p>
            <a:pPr marL="137160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49404488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1C769-76D3-2DF8-DDBD-C442B6D7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6F91DA0-85FB-3311-1159-DA1A2C897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Técnicas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Programação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9A73D21F-B6A0-C544-CD0C-E21E8976E908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Estruturas Iterativas: for;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do;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forEach</a:t>
            </a: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 = 0;</a:t>
            </a:r>
          </a:p>
          <a:p>
            <a:pPr marL="1407160" lvl="3" indent="0" algn="just">
              <a:buNone/>
            </a:pP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(num &lt; 100){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println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("Formação Java web");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num++;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1407160" lvl="3" indent="0" algn="just">
              <a:buNone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580223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ADDA3-1D61-ED39-8539-DC8A2D144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17581D1-39AD-DB0D-1B1C-D5D87F4A0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Técnicas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Programação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F0EB6A3-9747-B5E7-238A-4C3FE224F558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Estruturas Iterativas: for;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do/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forEach</a:t>
            </a: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 = 0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do{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println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("Formação Java web");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num++;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(num &lt; 100);</a:t>
            </a: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9493287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70864-F9F2-304A-251E-33C0CEF05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A576EC8-4C39-1B05-150A-44FD440A3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Técnicas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Programação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526EA11-2BF6-9C3F-3A10-7D6FB3AD9FEC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Estruturas Iterativas: for;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do;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forEach</a:t>
            </a: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</a:p>
          <a:p>
            <a:pPr marL="1407160" lvl="3" indent="0" algn="just">
              <a:buNone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(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num = 0; num &lt; 10; num++){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println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("Formação Java web");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3468324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645E5-A8DB-1F58-2B3D-61ABC882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227E1BF-39CE-5E50-C91E-D849B980E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Técnicas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Programação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EC84D5B9-AE33-2EC9-0A86-1776F107494B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Estruturas Iterativas: for;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 do;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forEach</a:t>
            </a: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 algn="just">
              <a:buFont typeface="Wingdings" panose="05000000000000000000" pitchFamily="2" charset="2"/>
              <a:buChar char="§"/>
            </a:pP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forEach</a:t>
            </a: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(&lt;Tipo&gt; &lt;identificação&gt; : &lt;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array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ou coleção&gt;) {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&lt;comando&gt;</a:t>
            </a:r>
          </a:p>
          <a:p>
            <a:pPr marL="1407160" lvl="3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  <a:p>
            <a:pPr marL="1407160" lvl="3" indent="0" algn="just">
              <a:buNone/>
            </a:pP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07160" lvl="3" indent="0" algn="just">
              <a:buNone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 (int count : </a:t>
            </a:r>
            <a:r>
              <a:rPr lang="en-US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meuArray</a:t>
            </a: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){</a:t>
            </a:r>
          </a:p>
          <a:p>
            <a:pPr marL="1407160" lvl="3" indent="0" algn="just">
              <a:buNone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&lt;</a:t>
            </a:r>
            <a:r>
              <a:rPr lang="en-US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comando</a:t>
            </a: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1407160" lvl="3" indent="0" algn="just">
              <a:buNone/>
            </a:pPr>
            <a:r>
              <a:rPr lang="en-US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pt-BR" sz="2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7672920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EF90B-6269-2DA3-A2E7-860A9D3BA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1E32BF5-02C0-11DC-9DA9-66A9ACD6D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Técnicas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Programação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7250E8E-5BCF-D77F-073D-4A56F8C4CFE1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 de Dados</a:t>
            </a:r>
          </a:p>
          <a:p>
            <a:pPr lvl="1" algn="just">
              <a:buFont typeface="Wingdings" panose="05000000000000000000" pitchFamily="2" charset="2"/>
              <a:buChar char="§"/>
            </a:pPr>
            <a:endParaRPr lang="pt-BR" sz="2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vetor[]; // declaração do vetor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vetor =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[10]; // alocação de espaço para vetor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vetor[] =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[10]; // declaração combinada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salario =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[10]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[12];</a:t>
            </a:r>
          </a:p>
        </p:txBody>
      </p:sp>
    </p:spTree>
    <p:extLst>
      <p:ext uri="{BB962C8B-B14F-4D97-AF65-F5344CB8AC3E}">
        <p14:creationId xmlns:p14="http://schemas.microsoft.com/office/powerpoint/2010/main" val="3446340335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43EC6-83E9-A36B-A9B7-E44ED5C45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B75572B-F055-CEC5-516B-A4560473C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Técnicas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Programação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22ABD83E-E1D0-041C-505D-842293174DAC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 de Dados –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Variável unidimensional - Vetor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 = 10; // tamanho do vetor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v[] = </a:t>
            </a: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[n]; // declaração e alocação de espaço para o vetor "v"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i; // índice ou posição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// processando os "n" elementos do vetor "v"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for (i=0; i&lt;n; i++) {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		v[i] = i; // na i-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ésima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posição do vetor "v" armazena o valor da viável "i"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1594338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C8F4D-26C6-4FD1-6A8D-1C7766CA0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1D49861-40C0-F081-BBE4-D71F3F954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5876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Técnicas</a:t>
            </a:r>
            <a:r>
              <a:rPr lang="en-US" b="1" dirty="0">
                <a:solidFill>
                  <a:srgbClr val="0070C0"/>
                </a:solidFill>
              </a:rPr>
              <a:t> de </a:t>
            </a:r>
            <a:r>
              <a:rPr lang="en-US" b="1" dirty="0" err="1">
                <a:solidFill>
                  <a:srgbClr val="0070C0"/>
                </a:solidFill>
              </a:rPr>
              <a:t>Programação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E0E39657-9A03-D54A-BE80-1129367AF05D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42865" y="1037312"/>
            <a:ext cx="8865056" cy="3900208"/>
          </a:xfrm>
        </p:spPr>
        <p:txBody>
          <a:bodyPr>
            <a:noAutofit/>
          </a:bodyPr>
          <a:lstStyle/>
          <a:p>
            <a:pPr lvl="1" algn="just">
              <a:buFont typeface="Wingdings" panose="05000000000000000000" pitchFamily="2" charset="2"/>
              <a:buChar char="§"/>
            </a:pPr>
            <a:r>
              <a:rPr lang="pt-BR" sz="2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Estrutura de Dados –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Variável multidimensional - Matriz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public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static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void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main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[]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args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{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[][] =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[2][2]; //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inicializa a matriz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 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[0][0] = 3;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[1][0] = 7;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 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 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System.out.</a:t>
            </a:r>
            <a:r>
              <a:rPr lang="pt-BR" sz="22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println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2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mat</a:t>
            </a: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[1][0]); // </a:t>
            </a:r>
            <a:r>
              <a:rPr lang="pt-BR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elemento</a:t>
            </a:r>
          </a:p>
          <a:p>
            <a:pPr marL="457200" lvl="1" indent="0" algn="just">
              <a:buNone/>
            </a:pPr>
            <a:r>
              <a:rPr lang="pt-BR" sz="2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}</a:t>
            </a:r>
          </a:p>
        </p:txBody>
      </p:sp>
    </p:spTree>
    <p:extLst>
      <p:ext uri="{BB962C8B-B14F-4D97-AF65-F5344CB8AC3E}">
        <p14:creationId xmlns:p14="http://schemas.microsoft.com/office/powerpoint/2010/main" val="133993565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Leitura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Específica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012261"/>
            <a:ext cx="8865056" cy="383531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</a:p>
          <a:p>
            <a:pPr marL="0" indent="0" algn="just">
              <a:buNone/>
            </a:pP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Disponível em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IDE – Parte 1</a:t>
            </a:r>
          </a:p>
          <a:p>
            <a:pPr marL="0" indent="0" algn="just">
              <a:buNone/>
            </a:pP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https://www.treinaweb.com.br/blog/principais-ides-para-desenvolvimento-java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</a:t>
            </a:r>
          </a:p>
          <a:p>
            <a:pPr marL="0" indent="0" algn="just">
              <a:buNone/>
            </a:pP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Disponível em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IDE – Parte 2</a:t>
            </a:r>
          </a:p>
          <a:p>
            <a:pPr marL="0" indent="0" algn="just">
              <a:buNone/>
            </a:pP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      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https://ieeexplore.ieee.org/abstract/document/1463097</a:t>
            </a:r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80270425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Aprenda</a:t>
            </a:r>
            <a:r>
              <a:rPr lang="en-US" b="1" dirty="0">
                <a:solidFill>
                  <a:srgbClr val="0070C0"/>
                </a:solidFill>
              </a:rPr>
              <a:t>+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https://youtu.be/d_-ZoZXAJjg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IDE</a:t>
            </a: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https://youtu.be/ktGdyxPi_-I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IDE</a:t>
            </a: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596967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Dinâmica</a:t>
            </a:r>
            <a:r>
              <a:rPr lang="en-US" b="1" dirty="0">
                <a:solidFill>
                  <a:srgbClr val="0070C0"/>
                </a:solidFill>
              </a:rPr>
              <a:t>/</a:t>
            </a:r>
            <a:r>
              <a:rPr lang="en-US" b="1" dirty="0" err="1">
                <a:solidFill>
                  <a:srgbClr val="0070C0"/>
                </a:solidFill>
              </a:rPr>
              <a:t>Atividades</a:t>
            </a:r>
            <a:r>
              <a:rPr lang="en-US" b="1" dirty="0">
                <a:solidFill>
                  <a:srgbClr val="0070C0"/>
                </a:solidFill>
              </a:rPr>
              <a:t> – </a:t>
            </a:r>
            <a:r>
              <a:rPr lang="en-US" b="1" dirty="0" err="1">
                <a:solidFill>
                  <a:srgbClr val="0070C0"/>
                </a:solidFill>
              </a:rPr>
              <a:t>Prática</a:t>
            </a:r>
            <a:r>
              <a:rPr lang="en-US" b="1" dirty="0">
                <a:solidFill>
                  <a:srgbClr val="0070C0"/>
                </a:solidFill>
              </a:rPr>
              <a:t> Java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39472" y="1063230"/>
            <a:ext cx="8865056" cy="3606305"/>
          </a:xfrm>
        </p:spPr>
        <p:txBody>
          <a:bodyPr>
            <a:noAutofit/>
          </a:bodyPr>
          <a:lstStyle/>
          <a:p>
            <a:pPr algn="just">
              <a:buFontTx/>
              <a:buChar char="-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Exercícios de Fixação 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onlinegdb.com</a:t>
            </a:r>
          </a:p>
          <a:p>
            <a:pPr marL="0" indent="0" algn="just">
              <a:buNone/>
            </a:pP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Desafios Lógica de Programação em Sala de Aula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 algn="just">
              <a:buNone/>
            </a:pPr>
            <a:endParaRPr lang="pt-BR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652989"/>
      </p:ext>
    </p:extLst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457200" y="205980"/>
            <a:ext cx="8229600" cy="857251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0070C0"/>
                </a:solidFill>
              </a:rPr>
              <a:t>Referências</a:t>
            </a:r>
            <a:r>
              <a:rPr lang="en-US" b="1" dirty="0">
                <a:solidFill>
                  <a:srgbClr val="0070C0"/>
                </a:solidFill>
              </a:rPr>
              <a:t> </a:t>
            </a:r>
            <a:r>
              <a:rPr lang="en-US" b="1" dirty="0" err="1">
                <a:solidFill>
                  <a:srgbClr val="0070C0"/>
                </a:solidFill>
              </a:rPr>
              <a:t>Bibliográficas</a:t>
            </a:r>
            <a:endParaRPr lang="en-US" b="1" dirty="0">
              <a:solidFill>
                <a:srgbClr val="0070C0"/>
              </a:solidFill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half" idx="1"/>
          </p:nvPr>
        </p:nvSpPr>
        <p:spPr>
          <a:xfrm>
            <a:off x="142865" y="1200151"/>
            <a:ext cx="8865056" cy="3394472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MENDES, Douglas Rocha.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Programação Java com ênfase em Orientação a Objetos.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Novatec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Editora, 2009.</a:t>
            </a: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LEITE, Thiago et al.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Orientação a objetos: aprenda seus conceitos e suas aplicabilidades de forma efetiva. Editora Casa do Código, 2016.</a:t>
            </a:r>
          </a:p>
        </p:txBody>
      </p:sp>
    </p:spTree>
    <p:extLst>
      <p:ext uri="{BB962C8B-B14F-4D97-AF65-F5344CB8AC3E}">
        <p14:creationId xmlns:p14="http://schemas.microsoft.com/office/powerpoint/2010/main" val="111531184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4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0"/>
            <a:ext cx="4391984" cy="17145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15" name="Imagem" descr="Image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46" y="300823"/>
            <a:ext cx="3685692" cy="1189055"/>
          </a:xfrm>
          <a:prstGeom prst="rect">
            <a:avLst/>
          </a:prstGeom>
          <a:ln w="12700">
            <a:miter lim="400000"/>
            <a:headEnd/>
            <a:tailEnd/>
          </a:ln>
        </p:spPr>
      </p:pic>
      <p:sp>
        <p:nvSpPr>
          <p:cNvPr id="3" name="Título 2"/>
          <p:cNvSpPr>
            <a:spLocks noGrp="1"/>
          </p:cNvSpPr>
          <p:nvPr>
            <p:ph type="title"/>
          </p:nvPr>
        </p:nvSpPr>
        <p:spPr>
          <a:xfrm>
            <a:off x="285751" y="2386770"/>
            <a:ext cx="8615364" cy="1102519"/>
          </a:xfrm>
        </p:spPr>
        <p:txBody>
          <a:bodyPr>
            <a:noAutofit/>
          </a:bodyPr>
          <a:lstStyle/>
          <a:p>
            <a:r>
              <a:rPr lang="pt-BR" sz="4800" b="1" dirty="0">
                <a:solidFill>
                  <a:schemeClr val="bg1"/>
                </a:solidFill>
              </a:rPr>
              <a:t>Desenvolvimento de Software </a:t>
            </a:r>
            <a:br>
              <a:rPr lang="pt-BR" sz="4800" b="1" dirty="0">
                <a:solidFill>
                  <a:schemeClr val="bg1"/>
                </a:solidFill>
              </a:rPr>
            </a:br>
            <a:r>
              <a:rPr lang="pt-BR" sz="4800" b="1" dirty="0">
                <a:solidFill>
                  <a:schemeClr val="bg1"/>
                </a:solidFill>
              </a:rPr>
              <a:t>JAVA</a:t>
            </a:r>
          </a:p>
        </p:txBody>
      </p:sp>
      <p:sp>
        <p:nvSpPr>
          <p:cNvPr id="6" name="Título 2"/>
          <p:cNvSpPr txBox="1"/>
          <p:nvPr/>
        </p:nvSpPr>
        <p:spPr>
          <a:xfrm>
            <a:off x="975683" y="3866663"/>
            <a:ext cx="7772400" cy="1102519"/>
          </a:xfrm>
          <a:prstGeom prst="rect">
            <a:avLst/>
          </a:prstGeom>
          <a:ln w="12700">
            <a:miter lim="400000"/>
          </a:ln>
        </p:spPr>
        <p:txBody>
          <a:bodyPr lIns="45718" tIns="45718" rIns="45718" bIns="45718" anchor="ctr">
            <a:noAutofit/>
          </a:bodyPr>
          <a:lstStyle>
            <a:lvl1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1pPr>
            <a:lvl2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2pPr>
            <a:lvl3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3pPr>
            <a:lvl4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4pPr>
            <a:lvl5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5pPr>
            <a:lvl6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6pPr>
            <a:lvl7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7pPr>
            <a:lvl8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8pPr>
            <a:lvl9pPr marL="0" marR="0" indent="0" algn="ctr" defTabSz="4572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4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j-lt"/>
                <a:ea typeface="+mj-ea"/>
                <a:cs typeface="+mj-cs"/>
                <a:sym typeface="Calibri"/>
              </a:defRPr>
            </a:lvl9pPr>
          </a:lstStyle>
          <a:p>
            <a:pPr algn="r" hangingPunct="1"/>
            <a:r>
              <a:rPr lang="pt-BR" sz="2000" b="1" dirty="0">
                <a:solidFill>
                  <a:schemeClr val="bg1"/>
                </a:solidFill>
              </a:rPr>
              <a:t>Professor </a:t>
            </a:r>
            <a:r>
              <a:rPr lang="pt-BR" sz="2000" b="1">
                <a:solidFill>
                  <a:schemeClr val="bg1"/>
                </a:solidFill>
              </a:rPr>
              <a:t>M.Sc</a:t>
            </a:r>
            <a:r>
              <a:rPr lang="pt-BR" sz="2000" b="1" dirty="0">
                <a:solidFill>
                  <a:schemeClr val="bg1"/>
                </a:solidFill>
              </a:rPr>
              <a:t>. Heleno Cardoso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7781</TotalTime>
  <Words>1537</Words>
  <Application>Microsoft Office PowerPoint</Application>
  <PresentationFormat>Apresentação na tela (16:9)</PresentationFormat>
  <Paragraphs>186</Paragraphs>
  <Slides>23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28" baseType="lpstr">
      <vt:lpstr>Arial</vt:lpstr>
      <vt:lpstr>Calibri</vt:lpstr>
      <vt:lpstr>Times New Roman</vt:lpstr>
      <vt:lpstr>Wingdings</vt:lpstr>
      <vt:lpstr>Office Theme</vt:lpstr>
      <vt:lpstr>Desenvolvimento de Software  JAVA</vt:lpstr>
      <vt:lpstr>Aula Resumo IDE Java e Spring   Componentes de Projeto Java          IDEs Java – Plugins JDK          Selecionar IDE e Instalar          Configurar Ambiente Java    Projeto Web Java           Técnicas de Programação em Java    Dinâmica/Atividades – Prática Java</vt:lpstr>
      <vt:lpstr>Componentes de Projeto Java</vt:lpstr>
      <vt:lpstr>Componentes de Projeto Java</vt:lpstr>
      <vt:lpstr>IDEs Java – Plugins + JDK</vt:lpstr>
      <vt:lpstr>Selecionar IDE e Instalar</vt:lpstr>
      <vt:lpstr>Configurar Ambiente Java</vt:lpstr>
      <vt:lpstr>Projeto Web Java – Spring Initializr</vt:lpstr>
      <vt:lpstr>Técnicas de Programação Java</vt:lpstr>
      <vt:lpstr>Técnicas de Programação Java</vt:lpstr>
      <vt:lpstr>Técnicas de Programação Java</vt:lpstr>
      <vt:lpstr>Técnicas de Programação Java</vt:lpstr>
      <vt:lpstr>Técnicas de Programação Java</vt:lpstr>
      <vt:lpstr>Técnicas de Programação Java</vt:lpstr>
      <vt:lpstr>Técnicas de Programação Java</vt:lpstr>
      <vt:lpstr>Técnicas de Programação Java</vt:lpstr>
      <vt:lpstr>Técnicas de Programação Java</vt:lpstr>
      <vt:lpstr>Técnicas de Programação Java</vt:lpstr>
      <vt:lpstr>Leitura Específica</vt:lpstr>
      <vt:lpstr>Aprenda+</vt:lpstr>
      <vt:lpstr>Dinâmica/Atividades – Prática Java</vt:lpstr>
      <vt:lpstr>Referências Bibliográficas</vt:lpstr>
      <vt:lpstr>Desenvolvimento de Software  JAVA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Nome da Disciplina</dc:title>
  <dc:creator>JOAO CAIRO FERREIRA</dc:creator>
  <cp:lastModifiedBy>HELENO CARDOSO DA SILVA FILHO</cp:lastModifiedBy>
  <cp:revision>1468</cp:revision>
  <dcterms:created xsi:type="dcterms:W3CDTF">2020-03-17T20:12:34Z</dcterms:created>
  <dcterms:modified xsi:type="dcterms:W3CDTF">2024-03-07T16:14:49Z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1033-11.1.0.9126</vt:lpwstr>
  </property>
</Properties>
</file>