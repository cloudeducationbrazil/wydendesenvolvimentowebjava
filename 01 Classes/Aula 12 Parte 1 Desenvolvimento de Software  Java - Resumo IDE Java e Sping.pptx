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91" r:id="rId3"/>
    <p:sldId id="396" r:id="rId4"/>
    <p:sldId id="397" r:id="rId5"/>
    <p:sldId id="398" r:id="rId6"/>
    <p:sldId id="399" r:id="rId7"/>
    <p:sldId id="410" r:id="rId8"/>
    <p:sldId id="411" r:id="rId9"/>
    <p:sldId id="400" r:id="rId10"/>
    <p:sldId id="402" r:id="rId11"/>
    <p:sldId id="401" r:id="rId12"/>
    <p:sldId id="403" r:id="rId13"/>
    <p:sldId id="404" r:id="rId14"/>
    <p:sldId id="406" r:id="rId15"/>
    <p:sldId id="407" r:id="rId16"/>
    <p:sldId id="405" r:id="rId17"/>
    <p:sldId id="408" r:id="rId18"/>
    <p:sldId id="409" r:id="rId19"/>
    <p:sldId id="333" r:id="rId20"/>
    <p:sldId id="323" r:id="rId21"/>
    <p:sldId id="334" r:id="rId22"/>
    <p:sldId id="337" r:id="rId23"/>
    <p:sldId id="309" r:id="rId2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6" autoAdjust="0"/>
    <p:restoredTop sz="83649" autoAdjust="0"/>
  </p:normalViewPr>
  <p:slideViewPr>
    <p:cSldViewPr snapToGrid="0">
      <p:cViewPr varScale="1">
        <p:scale>
          <a:sx n="76" d="100"/>
          <a:sy n="76" d="100"/>
        </p:scale>
        <p:origin x="804" y="78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6282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5CDB-3F30-C6C8-C95F-3085BF50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4DA03A-6A8A-598E-C31F-943D24A0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B41EF9-07D0-B6C5-E176-303AF509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324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BE3E5-A491-48BC-6B57-A8393C84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0FBF30-4405-5833-C765-9FEBA8E2F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E4EBE3-DE3C-1831-454A-3CE45CA97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7833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B489-18D6-A70A-F140-34933607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93CE20-34D6-CF78-3FC5-609C573C3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1A1DE3-120B-2825-CE22-45ADF78DE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993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5CDB-3F30-C6C8-C95F-3085BF50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4DA03A-6A8A-598E-C31F-943D24A0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B41EF9-07D0-B6C5-E176-303AF509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828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5CDB-3F30-C6C8-C95F-3085BF50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4DA03A-6A8A-598E-C31F-943D24A0C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B41EF9-07D0-B6C5-E176-303AF509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0754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6878-0229-8C58-E5C7-B6269341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1009E9-8ABC-1D9C-94EB-C72AA61DA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4D57CF-672D-122C-ACD9-5D927C072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6592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CA30-BC3F-ABFF-FF6B-82973952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D0A4EE-E34A-330B-3A57-B74988897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31AB5D-E82C-CF2C-CB2A-11B2E1465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1632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E8F4-2117-CC36-D3D8-31D4A9F1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D4BC12-CC53-1471-0F7F-25B2494E3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DED89-A691-0485-4D8C-4A8FE97B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6241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E1DA-4807-2778-CAC2-CBCD04FC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6031E5-9F4C-8B29-B3D1-A93664F36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FC2EB8-6C5C-D4A6-5C5F-C049503E3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1152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2C04-D91D-3C79-AE88-CE74E7A8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C1635E-06AB-DA04-E358-8FC4DBC37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0E7F8B-BF51-21FF-8687-FAA3BDFDB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1233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900B-17B5-FB74-6A92-91109C78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F834DD-3682-10BE-EC42-F30545210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0F7313-17C7-CE4D-FD32-CD62D111F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366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5D0C-DFEE-576F-BE54-70E4F127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5C4A1F-E843-F91A-6D5C-C20B772AC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B882A2-AC56-CF1B-AA2C-8BF90305F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120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5FB2-12B3-353E-5A11-E9153DCF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17815A-FEC6-9F5F-4382-AB6BC4EF5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D7D88E-9A77-A515-69DC-6E0145B3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836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CD6B-BB8F-30A1-BACA-4E825A78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D4999F-34D2-1DB6-4438-364A22009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62426A-470B-D5FD-D124-3F21CD30C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607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2F08C-6FAD-467B-922E-8286A9D3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F4B77A-8EC9-76D1-762F-A15F91725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EB18C0-1F15-4BAC-2476-295DEACA6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0843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etbrains.com/ide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ring.io/tools" TargetMode="External"/><Relationship Id="rId4" Type="http://schemas.openxmlformats.org/officeDocument/2006/relationships/hyperlink" Target="https://netbeans.apache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91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einaweb.com.br/blog/principais-ides-para-desenvolvimento-java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eeexplore.ieee.org/abstract/document/146309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_-ZoZXAJj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.be/ktGdyxPi_-I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Resumo IDE Java e Spring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 </a:t>
            </a:r>
            <a:r>
              <a:rPr lang="pt-BR" sz="2200" b="1" dirty="0">
                <a:solidFill>
                  <a:schemeClr val="bg1"/>
                </a:solidFill>
              </a:rPr>
              <a:t>Componentes de Projeto Java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         </a:t>
            </a:r>
            <a:r>
              <a:rPr lang="pt-BR" sz="2200" b="1" dirty="0" err="1">
                <a:solidFill>
                  <a:schemeClr val="bg1"/>
                </a:solidFill>
              </a:rPr>
              <a:t>IDEs</a:t>
            </a:r>
            <a:r>
              <a:rPr lang="pt-BR" sz="2200" b="1" dirty="0">
                <a:solidFill>
                  <a:schemeClr val="bg1"/>
                </a:solidFill>
              </a:rPr>
              <a:t> Java – Plugins JDK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         Selecionar IDE e Instalar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         Configurar Ambiente Java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	  Projeto Web Java 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         Técnicas de Programação em Java</a:t>
            </a:r>
            <a:br>
              <a:rPr lang="pt-BR" sz="2200" b="1" dirty="0">
                <a:solidFill>
                  <a:schemeClr val="bg1"/>
                </a:solidFill>
              </a:rPr>
            </a:br>
            <a:r>
              <a:rPr lang="pt-BR" sz="2200" b="1" dirty="0">
                <a:solidFill>
                  <a:schemeClr val="bg1"/>
                </a:solidFill>
              </a:rPr>
              <a:t>	  Dinâmica/Atividades – Prática 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Componentes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se tornar um profissional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Java e Spring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assim como desenvolver em qualquer linguagem. Java é um padrão aberto,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JDK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Componentes Necessários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SDK da linguagem de programação: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JDK Zulu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Corretto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openJDK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tradutor: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interpretador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Bibliotecas padrões da linguagem para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linkeditar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Framework da linguagem: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Versionador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Projeto – Ex.: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Ferramenta GIT</a:t>
            </a:r>
          </a:p>
        </p:txBody>
      </p:sp>
    </p:spTree>
    <p:extLst>
      <p:ext uri="{BB962C8B-B14F-4D97-AF65-F5344CB8AC3E}">
        <p14:creationId xmlns:p14="http://schemas.microsoft.com/office/powerpoint/2010/main" val="304981000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B247-F976-B4AD-249C-E31CB509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CA68D7-53EF-CC6E-470B-60B9D397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Componentes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1B72A2-86A0-67CF-7CBD-2C7EAC68EB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Componentes Necessários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IDE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Tools 4.0 (STS)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 de código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projeto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projeto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complemento de código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Refactors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Insominia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testar as requisições.</a:t>
            </a:r>
          </a:p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7083662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4129-2748-2446-DBD7-FA546679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3AF7F8F-6B97-BFA1-9644-091C5404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IDEs Java – Plugins + JDK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E1FC78-0B32-5391-DC4F-3C193B67457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IDEA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https://jetbrains.com/idea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</a:t>
            </a:r>
            <a:r>
              <a:rPr lang="pt-B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gratuita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NetBeans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https://netbeans.apache.org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https://spring.io/tools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(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Eclipse)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882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9B67-C5AF-CC9B-E111-BB545828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B02068-17ED-DE14-7B18-09600BDF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Selecionar</a:t>
            </a:r>
            <a:r>
              <a:rPr lang="en-US" b="1" dirty="0">
                <a:solidFill>
                  <a:srgbClr val="0070C0"/>
                </a:solidFill>
              </a:rPr>
              <a:t> IDE e </a:t>
            </a:r>
            <a:r>
              <a:rPr lang="en-US" b="1" dirty="0" err="1">
                <a:solidFill>
                  <a:srgbClr val="0070C0"/>
                </a:solidFill>
              </a:rPr>
              <a:t>Instalar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604421D-5741-BFBE-F992-5054D6BCF73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Spring Tools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Selecionar a versão compatível com o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baixar a versão .JAR compactada.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Descompactar, dentro da pasta extrair o arquivo contentes.zip, lá consta a IDE STS de trabalho, ou, dois clicks no arquivo .JAR.</a:t>
            </a:r>
          </a:p>
          <a:p>
            <a:pPr marL="457200" lvl="1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Selecionar o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workspace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será a pasta de projetos.</a:t>
            </a:r>
          </a:p>
        </p:txBody>
      </p:sp>
    </p:spTree>
    <p:extLst>
      <p:ext uri="{BB962C8B-B14F-4D97-AF65-F5344CB8AC3E}">
        <p14:creationId xmlns:p14="http://schemas.microsoft.com/office/powerpoint/2010/main" val="41586759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B247-F976-B4AD-249C-E31CB509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CA68D7-53EF-CC6E-470B-60B9D397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Configurar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Ambiente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1B72A2-86A0-67CF-7CBD-2C7EAC68EB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86512"/>
            <a:ext cx="8865056" cy="39029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URL: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https://spring.io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Configurar-Variáveis de Ambiente,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criar/atualizar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VARIÁVEIS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JAVA_HOME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C:\Program Files\Java\zulu17.34.19-ca-jdk17.0.3-win_x64\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C:\Program Files\Java\zulu17.34.19-ca-jdk17.0.3-win_x64\bin</a:t>
            </a:r>
          </a:p>
          <a:p>
            <a:pPr marL="0" indent="0" algn="just">
              <a:buNone/>
            </a:pPr>
            <a:r>
              <a:rPr lang="pt-B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CLASSPATH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;%JAVA_HOME%\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;%JAVA_HOME%\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testar se a instalação está ok.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3147978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B247-F976-B4AD-249C-E31CB509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CA68D7-53EF-CC6E-470B-60B9D397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Projeto</a:t>
            </a:r>
            <a:r>
              <a:rPr lang="en-US" b="1" dirty="0">
                <a:solidFill>
                  <a:srgbClr val="0070C0"/>
                </a:solidFill>
              </a:rPr>
              <a:t> Web Java – Spring </a:t>
            </a:r>
            <a:r>
              <a:rPr lang="en-US" b="1" dirty="0" err="1">
                <a:solidFill>
                  <a:srgbClr val="0070C0"/>
                </a:solidFill>
              </a:rPr>
              <a:t>Initializr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1B72A2-86A0-67CF-7CBD-2C7EAC68EB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986512"/>
            <a:ext cx="8865056" cy="3902988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Spring Boot: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versão LTS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do projeto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(domínio) e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Dependencies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Tools; Spring Web; H2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BD, segurança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Versão Java: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???;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 último,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04875" lvl="1" indent="-457200" algn="just">
              <a:buFont typeface="+mj-lt"/>
              <a:buAutoNum type="arabicPeriod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zipado</a:t>
            </a:r>
            <a:endParaRPr lang="pt-BR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75" lvl="1" indent="-457200" algn="just">
              <a:buFont typeface="+mj-lt"/>
              <a:buAutoNum type="arabicPeriod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Descompactar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arquivo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 Web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04875" lvl="1" indent="-457200" algn="just">
              <a:buFont typeface="+mj-lt"/>
              <a:buAutoNum type="arabicPeriod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Colocar na pasta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trabalho da IDE STS 4</a:t>
            </a:r>
          </a:p>
          <a:p>
            <a:pPr marL="904875" lvl="1" indent="-457200" algn="just">
              <a:buFont typeface="+mj-lt"/>
              <a:buAutoNum type="arabicPeriod"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 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STS 4</a:t>
            </a:r>
          </a:p>
          <a:p>
            <a:pPr marL="904875" lvl="1" indent="-457200" algn="just">
              <a:buFont typeface="+mj-lt"/>
              <a:buAutoNum type="arabicPeriod"/>
            </a:pP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Impotar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STS,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Projeto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Existente</a:t>
            </a:r>
          </a:p>
          <a:p>
            <a:pPr marL="0" indent="0" algn="just"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Nota: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Caso, conflite com a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8080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TOMCAT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criar um arquivo na pasta: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o nome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conteúdo: 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server.port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8091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acesse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http://localhost:PORTA/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2996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E94BC-4A36-F6E2-B92F-DC5DAF29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87E826-E730-97D5-D1AD-59CE7996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8CFB438-05F6-A90C-118F-6881434372C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897612"/>
            <a:ext cx="8865056" cy="4090012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Primitivos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byte, short,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char,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Operadores: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atribuição, aritméticos; relacionais e lógicos;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=; +; -; /; *; &gt;; &gt;=; &lt;; &lt;=; ==; !=; %; &amp;&amp;; ||; !; ++; --; +=; ?:;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false;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Prioridade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(  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 de Dados 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endParaRPr lang="pt-BR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nome; 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ler = new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(System.in); 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Fechar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nextLine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</a:p>
        </p:txBody>
      </p:sp>
    </p:spTree>
    <p:extLst>
      <p:ext uri="{BB962C8B-B14F-4D97-AF65-F5344CB8AC3E}">
        <p14:creationId xmlns:p14="http://schemas.microsoft.com/office/powerpoint/2010/main" val="7702577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AEBC-2F17-4D29-5AD4-CC86F688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6F8876-A663-9D27-DE1E-20F6F222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D86BEF-8E11-0CDA-2A6F-C43D3564A37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Saída de Dados - </a:t>
            </a:r>
            <a:r>
              <a:rPr lang="pt-B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sysout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ctrl+barra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espaço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(“informe um número”);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nResultados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:\n");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+ %d = %3d\n", a, b, (a +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- %d = %3d\n", a, b, (a -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* %d = %3d\n", a, b, (a *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/ %d = %3d (divisão inteira)\n", a, b, (a / b));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/ %d = %6.2f (divisão exata)\n", a, b, ((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)a / b));</a:t>
            </a:r>
          </a:p>
        </p:txBody>
      </p:sp>
    </p:spTree>
    <p:extLst>
      <p:ext uri="{BB962C8B-B14F-4D97-AF65-F5344CB8AC3E}">
        <p14:creationId xmlns:p14="http://schemas.microsoft.com/office/powerpoint/2010/main" val="41401637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A01E-0B94-FB66-18A0-D3DED6B2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CDF3BD-C7DC-9CAF-2ADF-71C4DAFC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EABBDD-B9A0-9DE6-0EE4-E3519A84828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de Controle/Seleção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switch/case</a:t>
            </a:r>
          </a:p>
          <a:p>
            <a:pPr marL="1371600" lvl="3" indent="0" algn="just">
              <a:buNone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1:  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("Janeiro"); break;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default: 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("Mês inválido"); break;</a:t>
            </a:r>
          </a:p>
          <a:p>
            <a:pPr marL="137160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94044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C769-76D3-2DF8-DDBD-C442B6D7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F91DA0-85FB-3311-1159-DA1A2C89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73D21F-B6A0-C544-CD0C-E21E8976E9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0;</a:t>
            </a:r>
          </a:p>
          <a:p>
            <a:pPr marL="1407160" lvl="3" indent="0" algn="just">
              <a:buNone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(num &lt; 100){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num++;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58022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DDA3-1D61-ED39-8539-DC8A2D14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7581D1-39AD-DB0D-1B1C-D5D87F4A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0EB6A3-9747-B5E7-238A-4C3FE224F55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do/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 = 0</a:t>
            </a:r>
          </a:p>
          <a:p>
            <a:pPr marL="1407160" lvl="3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num++;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(num &lt; 100);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9328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0864-F9F2-304A-251E-33C0CEF0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576EC8-4C39-1B05-150A-44FD440A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526EA11-2BF6-9C3F-3A10-7D6FB3AD9FE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do/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 = 0; num &lt; 10; num++){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("Formação Java web");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6832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45E5-A8DB-1F58-2B3D-61ABC882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227E1BF-39CE-5E50-C91E-D849B980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84D5B9-AE33-2EC9-0A86-1776F107494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Iterativas: for;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do/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(&lt;Tipo&gt; &lt;identificação&gt; : &lt;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coleção&gt;) {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&lt;comando&gt;</a:t>
            </a:r>
          </a:p>
          <a:p>
            <a:pPr marL="1407160" lvl="3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407160" lvl="3" indent="0" algn="just">
              <a:buNone/>
            </a:pP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07160" lvl="3" indent="0" algn="just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(int count :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meuArray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1407160" lvl="3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comando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407160" lvl="3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7292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F90B-6269-2DA3-A2E7-860A9D3B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E32BF5-02C0-11DC-9DA9-66A9ACD6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250E8E-5BCF-D77F-073D-4A56F8C4CFE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Dados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pt-BR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vetor[]; // declaração do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vetor =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[10]; // alocação de espaço para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vetor[] =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[10]; // declaração combinada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salario =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[12];</a:t>
            </a:r>
          </a:p>
        </p:txBody>
      </p:sp>
    </p:spTree>
    <p:extLst>
      <p:ext uri="{BB962C8B-B14F-4D97-AF65-F5344CB8AC3E}">
        <p14:creationId xmlns:p14="http://schemas.microsoft.com/office/powerpoint/2010/main" val="34463403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43EC6-83E9-A36B-A9B7-E44ED5C4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75572B-F055-CEC5-516B-A4560473C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ABD83E-E1D0-041C-505D-842293174DA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Dados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 unidimensional -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= 10; // tamanho do vetor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v[] = 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[n]; // declaração e alocação de espaço p/ o vetor "v"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i; // índice ou posição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// processando os "n" elementos do vetor "v"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(i=0; i&lt;n; i++) {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v[i] = i; // no vetor armazena o valor da viável "i“}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(i=0; i&lt;n; i++)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(v[i]); //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sysout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ctrl+barra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espaço</a:t>
            </a:r>
          </a:p>
        </p:txBody>
      </p:sp>
    </p:spTree>
    <p:extLst>
      <p:ext uri="{BB962C8B-B14F-4D97-AF65-F5344CB8AC3E}">
        <p14:creationId xmlns:p14="http://schemas.microsoft.com/office/powerpoint/2010/main" val="5159433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8F4D-26C6-4FD1-6A8D-1C7766CA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D49861-40C0-F081-BBE4-D71F3F954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876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Técnicas</a:t>
            </a:r>
            <a:r>
              <a:rPr lang="en-US" b="1" dirty="0">
                <a:solidFill>
                  <a:srgbClr val="0070C0"/>
                </a:solidFill>
              </a:rPr>
              <a:t> de </a:t>
            </a:r>
            <a:r>
              <a:rPr lang="en-US" b="1" dirty="0" err="1">
                <a:solidFill>
                  <a:srgbClr val="0070C0"/>
                </a:solidFill>
              </a:rPr>
              <a:t>Programação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0E39657-9A03-D54A-BE80-1129367AF05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42865" y="1037312"/>
            <a:ext cx="8865056" cy="3900208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pt-B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Dados –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 multidimensional - Matriz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[][] =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[2][2]; //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inicializa a matriz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[0][0] = 3;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[1][0] = 7;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</a:t>
            </a:r>
            <a:r>
              <a:rPr lang="pt-BR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</a:t>
            </a: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[1][0]); // </a:t>
            </a:r>
            <a:r>
              <a:rPr lang="pt-B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</a:t>
            </a:r>
          </a:p>
          <a:p>
            <a:pPr marL="457200" lvl="1" indent="0" algn="just">
              <a:buNone/>
            </a:pPr>
            <a:r>
              <a:rPr lang="pt-B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33993565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12261"/>
            <a:ext cx="8865056" cy="38353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  <a:p>
            <a:pPr marL="0" indent="0" algn="just">
              <a:buNone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Disponível em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 – Parte 1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https://www.treinaweb.com.br/blog/principais-ides-para-desenvolvimento-java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 – Parte 2</a:t>
            </a:r>
          </a:p>
          <a:p>
            <a:pPr marL="0" indent="0" algn="just">
              <a:buNone/>
            </a:pP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https://ieeexplore.ieee.org/abstract/document/1463097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https://youtu.be/d_-ZoZXAJjg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IDE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https://youtu.be/ktGdyxPi_-I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IDE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Prática</a:t>
            </a:r>
            <a:r>
              <a:rPr lang="en-US" b="1" dirty="0">
                <a:solidFill>
                  <a:srgbClr val="0070C0"/>
                </a:solidFill>
              </a:rPr>
              <a:t> Java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algn="just">
              <a:buFontTx/>
              <a:buChar char="-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de Fixação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onlinegdb.com</a:t>
            </a:r>
          </a:p>
          <a:p>
            <a:pPr marL="0" indent="0" algn="just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Desafios Lógica de Programação em Sala de Aula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algn="just">
              <a:buNone/>
            </a:pPr>
            <a:endParaRPr lang="pt-B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MENDES, Douglas Rocha.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Programação Java com ênfase em Orientação a Objetos.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Novatec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Editora, 2009.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LEITE, Thiago et al.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Orientação a objetos: aprenda seus conceitos e suas aplicabilidades de forma efetiva. Editora Casa do Código, 2016.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Desenvolvimento de Software 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7828</TotalTime>
  <Words>1578</Words>
  <Application>Microsoft Office PowerPoint</Application>
  <PresentationFormat>Apresentação na tela (16:9)</PresentationFormat>
  <Paragraphs>187</Paragraphs>
  <Slides>23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Desenvolvimento de Software  JAVA</vt:lpstr>
      <vt:lpstr> Aula Resumo IDE Java e Spring   Componentes de Projeto Java          IDEs Java – Plugins JDK          Selecionar IDE e Instalar          Configurar Ambiente Java    Projeto Web Java           Técnicas de Programação em Java    Dinâmica/Atividades – Prática Java</vt:lpstr>
      <vt:lpstr>Componentes de Projeto Java</vt:lpstr>
      <vt:lpstr>Componentes de Projeto Java</vt:lpstr>
      <vt:lpstr>IDEs Java – Plugins + JDK</vt:lpstr>
      <vt:lpstr>Selecionar IDE e Instalar</vt:lpstr>
      <vt:lpstr>Configurar Ambiente Java</vt:lpstr>
      <vt:lpstr>Projeto Web Java – Spring Initializr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Técnicas de Programação Java</vt:lpstr>
      <vt:lpstr>Leitura Específica</vt:lpstr>
      <vt:lpstr>Aprenda+</vt:lpstr>
      <vt:lpstr>Dinâmica/Atividades – Prática Java</vt:lpstr>
      <vt:lpstr>Referências Bibliográficas</vt:lpstr>
      <vt:lpstr>Desenvolvimento de Software 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 DA SILVA FILHO</cp:lastModifiedBy>
  <cp:revision>1474</cp:revision>
  <dcterms:created xsi:type="dcterms:W3CDTF">2020-03-17T20:12:34Z</dcterms:created>
  <dcterms:modified xsi:type="dcterms:W3CDTF">2024-03-09T16:04:34Z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